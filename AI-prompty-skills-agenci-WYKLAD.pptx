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workshop1"/>
    <p:sldId id="257" r:id="workshop2"/>
    <p:sldId id="258" r:id="workshop3"/>
    <p:sldId id="259" r:id="workshop4"/>
    <p:sldId id="260" r:id="workshop5"/>
    <p:sldId id="261" r:id="workshop6"/>
    <p:sldId id="262" r:id="workshop7"/>
    <p:sldId id="263" r:id="workshop8"/>
    <p:sldId id="264" r:id="workshop9"/>
    <p:sldId id="265" r:id="workshop10"/>
    <p:sldId id="266" r:id="workshop11"/>
    <p:sldId id="267" r:id="workshop12"/>
    <p:sldId id="268" r:id="workshop13"/>
    <p:sldId id="269" r:id="workshop14"/>
    <p:sldId id="270" r:id="workshop15"/>
    <p:sldId id="271" r:id="workshop16"/>
    <p:sldId id="272" r:id="workshop17"/>
    <p:sldId id="273" r:id="workshop18"/>
    <p:sldId id="274" r:id="workshop19"/>
    <p:sldId id="275" r:id="workshop20"/>
    <p:sldId id="276" r:id="workshop21"/>
    <p:sldId id="277" r:id="workshop22"/>
    <p:sldId id="278" r:id="workshop23"/>
    <p:sldId id="279" r:id="workshop24"/>
    <p:sldId id="280" r:id="workshop25"/>
    <p:sldId id="281" r:id="workshop26"/>
  </p:sldIdLst>
  <p:sldSz cx="12192000" cy="6858000"/>
  <p:notesSz cx="6858000" cy="12192000"/>
  <p:embeddedFontLst>
    <p:embeddedFont>
      <p:font typeface="Noto Sans" panose="020B0502040504020204" pitchFamily="34" charset="0"/>
      <p:regular r:id="rId13"/>
    </p:embeddedFont>
    <p:embeddedFont>
      <p:font typeface="Noto Sans Bold" panose="020B0502040504020204" pitchFamily="34" charset="0"/>
      <p:regular r:id="rId14"/>
      <p:bold r:id="rId15"/>
    </p:embeddedFont>
    <p:embeddedFont>
      <p:font typeface="Noto Sans Medium" panose="020B0502040504020204" pitchFamily="34" charset="0"/>
      <p:regular r:id="rId16"/>
    </p:embeddedFont>
    <p:embeddedFont>
      <p:font typeface="Noto Sans SemiBold" panose="020B0502040504020204" pitchFamily="34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1" Type="http://schemas.openxmlformats.org/officeDocument/2006/relationships/theme" Target="theme/theme1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3.fntdata"/><Relationship Id="rId19" Type="http://schemas.openxmlformats.org/officeDocument/2006/relationships/presProps" Target="presProps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Relationship Id="workshop1" Type="http://schemas.openxmlformats.org/officeDocument/2006/relationships/slide" Target="slides/slide1.xml"/><Relationship Id="workshop2" Type="http://schemas.openxmlformats.org/officeDocument/2006/relationships/slide" Target="slides/slide2.xml"/><Relationship Id="workshop3" Type="http://schemas.openxmlformats.org/officeDocument/2006/relationships/slide" Target="slides/slide3.xml"/><Relationship Id="workshop4" Type="http://schemas.openxmlformats.org/officeDocument/2006/relationships/slide" Target="slides/slide4.xml"/><Relationship Id="workshop5" Type="http://schemas.openxmlformats.org/officeDocument/2006/relationships/slide" Target="slides/slide5.xml"/><Relationship Id="workshop6" Type="http://schemas.openxmlformats.org/officeDocument/2006/relationships/slide" Target="slides/slide6.xml"/><Relationship Id="workshop7" Type="http://schemas.openxmlformats.org/officeDocument/2006/relationships/slide" Target="slides/slide7.xml"/><Relationship Id="workshop8" Type="http://schemas.openxmlformats.org/officeDocument/2006/relationships/slide" Target="slides/slide8.xml"/><Relationship Id="workshop9" Type="http://schemas.openxmlformats.org/officeDocument/2006/relationships/slide" Target="slides/slide9.xml"/><Relationship Id="workshop10" Type="http://schemas.openxmlformats.org/officeDocument/2006/relationships/slide" Target="slides/slide10.xml"/><Relationship Id="workshop11" Type="http://schemas.openxmlformats.org/officeDocument/2006/relationships/slide" Target="slides/slide11.xml"/><Relationship Id="workshop12" Type="http://schemas.openxmlformats.org/officeDocument/2006/relationships/slide" Target="slides/slide12.xml"/><Relationship Id="workshop13" Type="http://schemas.openxmlformats.org/officeDocument/2006/relationships/slide" Target="slides/slide13.xml"/><Relationship Id="workshop14" Type="http://schemas.openxmlformats.org/officeDocument/2006/relationships/slide" Target="slides/slide14.xml"/><Relationship Id="workshop15" Type="http://schemas.openxmlformats.org/officeDocument/2006/relationships/slide" Target="slides/slide15.xml"/><Relationship Id="workshop16" Type="http://schemas.openxmlformats.org/officeDocument/2006/relationships/slide" Target="slides/slide16.xml"/><Relationship Id="workshop17" Type="http://schemas.openxmlformats.org/officeDocument/2006/relationships/slide" Target="slides/slide17.xml"/><Relationship Id="workshop18" Type="http://schemas.openxmlformats.org/officeDocument/2006/relationships/slide" Target="slides/slide18.xml"/><Relationship Id="workshop19" Type="http://schemas.openxmlformats.org/officeDocument/2006/relationships/slide" Target="slides/slide19.xml"/><Relationship Id="workshop20" Type="http://schemas.openxmlformats.org/officeDocument/2006/relationships/slide" Target="slides/slide20.xml"/><Relationship Id="workshop21" Type="http://schemas.openxmlformats.org/officeDocument/2006/relationships/slide" Target="slides/slide21.xml"/><Relationship Id="workshop22" Type="http://schemas.openxmlformats.org/officeDocument/2006/relationships/slide" Target="slides/slide22.xml"/><Relationship Id="workshop23" Type="http://schemas.openxmlformats.org/officeDocument/2006/relationships/slide" Target="slides/slide23.xml"/><Relationship Id="workshop24" Type="http://schemas.openxmlformats.org/officeDocument/2006/relationships/slide" Target="slides/slide24.xml"/><Relationship Id="workshop25" Type="http://schemas.openxmlformats.org/officeDocument/2006/relationships/slide" Target="slides/slide25.xml"/><Relationship Id="workshop26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73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0–2 min (2 min). Rodzaj: wyjaśnienie.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OTWARCIE: Dziś opowiemy, jak przejść od zwykłej rozmowy z AI do świadomego projektowania promptów, prototypów i procesów. Konrad pokaże ocenę jakości i błędy, Grzegorz — prompty, procesy i architekturę.</a:t>
            </a:r>
          </a:p>
          <a:p>
            <a:r>
              <a:rPr lang="pl-PL" sz="1200"/>
              <a:t>FORMAT: Prezentacja z przykładami opowiadanymi lub pokazywanymi przez prowadzących. Nie ma pracy w grupach ani samodzielnych ćwiczeń w trakcie spotkania. Wszystkie zadania z repo pozostają do wykonania w domu.</a:t>
            </a:r>
          </a:p>
          <a:p>
            <a:r>
              <a:rPr lang="pl-PL" sz="1200"/>
              <a:t>PLAN: 160 minut opowieści i demonstracji, 10 minut przerwy po 70. minucie oraz 10 minut pytań i podsumowania. Czasy są orientacyjne; jeśli kończycie wcześniej, skracajcie demonstracje, zachowując wnioski. Narzędzia uczniów mogą być różne: Claude, ChatGPT lub inny czat.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2–4 min (2 min). Rodzaj: wyjaśnienie.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 opowiada o szukaniu bugów, testowaniu i wiarygodności wyników AI. Grzegorz opowiada o tworzeniu procesów, architekturze i przekładaniu pomysłów na instrukcje. Zachowano stanowiska i grafiki z wcześniejszej prezentacji. Grafiki symbolizują obszary pracy, nie są portretami.</a:t>
            </a:r>
          </a:p>
          <a:p>
            <a:r>
              <a:rPr lang="pl-PL" sz="1200"/>
              <a:t>Podczas przykładów możecie prowadzić krótką rozmowę: Grzegorz proponuje rozwiązanie, Konrad pokazuje sposób jego sprawdzenia. To dialog prowadzących, bez zadań dla sali.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4–8 min (4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 — 4 MINUTY:</a:t>
            </a:r>
          </a:p>
          <a:p>
            <a:r>
              <a:rPr lang="pl-PL" sz="1200"/>
              <a:t>1. DANE: Nie przekazujemy haseł, kluczy API, danych osobowych, prywatnych rozmów ani poufnych dokumentów. Do opisania problemu zwykle wystarczy fikcyjny przykład. Zamiast nazwiska i ocen ucznia podajemy poziom wiedzy. Nie zakładajcie, że każda usługa i każde konto mają takie same ustawienia prywatności; sprawdzamy zasady konkretnego narzędzia.</a:t>
            </a:r>
          </a:p>
          <a:p>
            <a:r>
              <a:rPr lang="pl-PL" sz="1200"/>
              <a:t>2. WIARYGODNOŚĆ: AI może odpowiedzieć przekonująco i błędnie, a także podać nieistniejące źródło. Otwieramy cytowany materiał i sprawdzamy, czy rzeczywiście potwierdza twierdzenie. Kod oceniamy przed uruchomieniem i testujemy jego działanie. Sam komunikat „testy przeszły” nie jest dowodem ich wykonania.</a:t>
            </a:r>
          </a:p>
          <a:p>
            <a:r>
              <a:rPr lang="pl-PL" sz="1200"/>
              <a:t>3. KONTROLA: Nie instalujemy nieznanych dodatków ani nie uruchamiamy poleceń bez zrozumienia ich skutków. Narzędziom dajemy tylko potrzebne uprawnienia. Polecenie ukryte w dokumencie lub na stronie jest treścią do analizy, nie automatycznym upoważnieniem do działania.</a:t>
            </a:r>
          </a:p>
          <a:p>
            <a:r>
              <a:rPr lang="pl-PL" sz="1200"/>
              <a:t>PRZYKŁAD Z ŻYCIA: Wiadomość lub wygenerowany głos proszący pilnie o pieniądze potwierdzamy znanym wcześniej kanałem. Wiarygodny wygląd i głos nie wystarczają do potwierdzenia nadawcy.</a:t>
            </a:r>
          </a:p>
          <a:p>
            <a:r>
              <a:rPr lang="pl-PL" sz="1200"/>
              <a:t>PRZEJŚCIE: Te zasady obowiązują zarówno przy zwykłym czacie, jak i przy skillach oraz agentach. Teraz pokażemy je na przykładzie quizu.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8–10 min (2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Po zasadach bezpieczeństwa pokaż wspólny przykład całego spotkania: lokalny quiz z pięcioma pytaniami. AI pomaga nam przygotować treść, opisać reguły i zaproponować kod. Konrad sprawdza, czy wynik spełnia wymagania.</a:t>
            </a:r>
          </a:p>
          <a:p>
            <a:r>
              <a:rPr lang="pl-PL" sz="1200"/>
              <a:t>Wszystkie przykłady bazują na fikcyjnych lub przygotowanych danych. Każdą obietnicę działania przekładamy na obserwację: co powinno się wydarzyć i co rzeczywiście widzimy. Do tego przykładu będziemy wracać przy promptach, prototypach, skillach i agentach.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10–15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Prompt engineering to projektowanie, sprawdzanie i poprawianie instrukcji. Cel opisuje efekt, kontekst daje potrzebne informacje, ograniczenia wyznaczają zakres, format pozwala użyć wyniku. „Jesteś ekspertem” nie zastępuje żadnego z tych elementów.</a:t>
            </a:r>
          </a:p>
          <a:p>
            <a:r>
              <a:rPr lang="pl-PL" sz="1200"/>
              <a:t>Zero-shot oznacza zadanie bez przykładów. Przykłady wejścia i wyjścia pokazują wzorzec: one-shot wykorzystuje jeden, few-shot kilka. Przykład musi być poprawny i zgodny z wymaganiami; model może powielić także jego błędy.</a:t>
            </a:r>
          </a:p>
          <a:p>
            <a:r>
              <a:rPr lang="pl-PL" sz="1200"/>
              <a:t>Pokaż ideę kontraktu: pytanie, trzy opcje, jeden indeks poprawnej odpowiedzi i cytat ze źródła. Przy braku danych jawny status zamiast zgadywania. W codziennej pracy format może być prostą tabelą; JSON ma sens, gdy wynik czyta program.</a:t>
            </a:r>
          </a:p>
          <a:p>
            <a:r>
              <a:rPr lang="pl-PL" sz="1200"/>
              <a:t>Źródło: https://docs.anthropic.com/en/docs/build-with-claude/prompt-engineering/overview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15–20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Jakość mierzymy względem celu. Pytamy o zgodność ze źródłem, format, poprawną odpowiedź i zachowanie przy braku danych. Kryteria definiujemy wcześniej.</a:t>
            </a:r>
          </a:p>
          <a:p>
            <a:r>
              <a:rPr lang="pl-PL" sz="1200"/>
              <a:t>PRZYKŁAD: Dwie odpowiedzi są równie ładne, ale tylko jedna zawiera prawdziwy cytat i poprawny klucz. Styl nie wystarcza. Porównując prompty, utrzymujemy ten sam model, dane i ustawienia; rozpoczynamy nowe rozmowy, aby wcześniejszy kontekst nie zmieniał wyniku.</a:t>
            </a:r>
          </a:p>
          <a:p>
            <a:r>
              <a:rPr lang="pl-PL" sz="1200"/>
              <a:t>Dane rozwojowe pomagają poprawiać prompt. Nowy zestaw testowy pozwala sprawdzić, czy zmiana działa poza znanymi przykładami. Mała próbka daje wskazówkę, nie gwarancję. Nie ma obowiązku, żeby dłuższy prompt wygrywał.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20–35 min (15 min). Rodzaj: przykład prowadzących.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 — PRZYKŁAD PRZED/PO: Przeczytaj „Zrób quiz o stronach WWW”. Wyjaśnij, ile decyzji model musi tu sam podjąć: poziom, długość, źródło, liczba odpowiedzi, format. Potem przeczytaj: „Na podstawie tej notatki przygotuj jedno pytanie dla ucznia technikum, trzy opcje, jeden poprawny klucz i cytat wspierający odpowiedź. Jeżeli źródło jest puste, napisz brak danych. Zwróć ustalony JSON”. Omów każdą dopisaną informację i jej skutek.</a:t>
            </a:r>
          </a:p>
          <a:p>
            <a:r>
              <a:rPr lang="pl-PL" sz="1200"/>
              <a:t>KONRAD — KONTRPRZYKŁAD: Pusta notatka, a model mimo to daje poprawnie brzmiące pytanie z wiedzy ogólnej. Merytoryczna poprawność nie oznacza wykonania zlecenia „tylko ze źródła”. Pokaż też przypadek, gdy wyjaśnienie jest poprawne, ale indeks odpowiedzi błędny.</a:t>
            </a:r>
          </a:p>
          <a:p>
            <a:r>
              <a:rPr lang="pl-PL" sz="1200"/>
              <a:t>PORÓWNANIE: Za każdym razem ten sam zestaw danych, świeża rozmowa i to samo narzędzie/model. Kryteria ustalamy przed obejrzeniem odpowiedzi. Powtórzenie może dać inny wynik; kilka prób nie dowodzi niezawodności. Uczniowie obserwują, nie uruchamiają zadań.</a:t>
            </a:r>
          </a:p>
          <a:p>
            <a:r>
              <a:rPr lang="pl-PL" sz="1200"/>
              <a:t>PODZIAŁ 15 MIN: 4 min słaby prompt, 5 min poprawiona specyfikacja, 4 min ocena przykładów, 2 min wniosek. Można użyć przygotowanych przykładów z repo, wyraźnie oznaczając, że nie są pomiarem na żywo.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35–40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Zwykły prompt prosi o wykonanie zadania. Meta-prompt prosi o przygotowanie lub ulepszenie instrukcji do zadania. AI może zadać pytania, wykryć lukę, zaproponować strukturę i przykład.</a:t>
            </a:r>
          </a:p>
          <a:p>
            <a:r>
              <a:rPr lang="pl-PL" sz="1200"/>
              <a:t>Ważne rozdzielenie: rozmowa projektująca prompt nie powinna już wykonywać docelowego quizu. Dzięki temu łatwiej ocenić samą instrukcję. Osobno wykonujemy ją na danych.</a:t>
            </a:r>
          </a:p>
          <a:p>
            <a:r>
              <a:rPr lang="pl-PL" sz="1200"/>
              <a:t>KONRAD: Poprawa brzmienia nie jest dowodem lepszego wyniku. Model może nadmiernie rozbudować instrukcję, wprowadzić sprzeczność lub zmienić cel. Sprawdzamy zgodność z wymaganiami i porównujemy wyniki.</a:t>
            </a:r>
          </a:p>
          <a:p>
            <a:r>
              <a:rPr lang="pl-PL" sz="1200"/>
              <a:t>Źródło: https://www.anthropic.com/news/prompt-generator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40–55 min (15 min). Rodzaj: przykład prowadzących.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Przeczytaj przykład: „Pomóż mi zaprojektować prompt do tworzenia pytań. Najpierw zadaj do trzech pytań o odbiorcę, źródło i format. Po odpowiedziach napisz krótką instrukcję. Nie twórz jeszcze quizu”. To meta prompting: przedmiotem pracy jest instrukcja.</a:t>
            </a:r>
          </a:p>
          <a:p>
            <a:r>
              <a:rPr lang="pl-PL" sz="1200"/>
              <a:t>OMÓW ROZMOWĘ: Model pyta „Dla kogo?”, prowadzący odpowiada „Dla uczniów znających podstawy WWW”. Model pyta o źródło; odpowiedź: „Wyłącznie dostarczona notatka”. O format: „Jedno pytanie, trzy opcje, klucz i cytat”. Pokaż, że zadając pytania, AI pomaga uporządkować nasze własne decyzje, ale ich nie zna z góry.</a:t>
            </a:r>
          </a:p>
          <a:p>
            <a:r>
              <a:rPr lang="pl-PL" sz="1200"/>
              <a:t>KONRAD: Dłuższy prompt może być gorszy: zawierać sprzeczne reguły lub nadmiernie dopasować się do przykładu. Porównujemy V1 i V2 na identycznych, wcześniej niewidzianych danych. Jeżeli poprawimy prompt po obejrzeniu testu, ten test przestaje być niezależny.</a:t>
            </a:r>
          </a:p>
          <a:p>
            <a:r>
              <a:rPr lang="pl-PL" sz="1200"/>
              <a:t>SCENARIUSZ: V2 poprawia format JSON, ale zaczyna pomijać sprzeczność w źródle. To nie jednoznaczna poprawa. Możemy odrzucić zmianę. Nie pytamy wyłącznie modelu, czy własny prompt jest dobry.</a:t>
            </a:r>
          </a:p>
          <a:p>
            <a:r>
              <a:rPr lang="pl-PL" sz="1200"/>
              <a:t>PODZIAŁ 15 MIN: 5 min przykład rozmowy, 5 min mechanizm i ograniczenia, 5 min porównanie dwóch wyników. Źródło: https://www.anthropic.com/news/prompt-generator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55–60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Brainstorming z AI ma dwie fazy: rozszerzenie listy możliwości i jej zawężenie według kryteriów. Jeśli od razu każemy oceniać, możemy stracić nietypowe pomysły. Jeśli nie przejdziemy do wyboru, zostaje długa lista bez decyzji.</a:t>
            </a:r>
          </a:p>
          <a:p>
            <a:r>
              <a:rPr lang="pl-PL" sz="1200"/>
              <a:t>Własne pomysły przed rozmową pomagają nie przywiązać się wyłącznie do pierwszej sugestii modelu. Dziś pokażemy ten proces na przykładzie, a w domu można go przećwiczyć samemu.</a:t>
            </a:r>
          </a:p>
          <a:p>
            <a:r>
              <a:rPr lang="pl-PL" sz="1200"/>
              <a:t>Różne perspektywy, np. uczeń, nauczyciel i tester, mogą pomóc zobaczyć braki. Nadal są generowane przez ten sam model; nie są niezależnymi ekspertami ani dowodem zgodności.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60–70 min (10 min). Rodzaj: przykład prowadzących.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 — PRZYKŁAD: Chcemy, żeby quiz lepiej pomagał w nauce. Rozróżnij mechanizmy: wskazówka przed odpowiedzią, wyjaśnienie błędnej opcji, lista tematów do powtórki, ponowna próba, ocena własnej pewności. Zmiana koloru pięciu przycisków to wariant wyglądu, a nie pięć mechanizmów edukacyjnych.</a:t>
            </a:r>
          </a:p>
          <a:p>
            <a:r>
              <a:rPr lang="pl-PL" sz="1200"/>
              <a:t>POKAŻ PROMPT: „Zaproponuj sześć różnych sposobów wsparcia nauki. Dla każdego opisz potrzebę ucznia i minimalną funkcję. Na razie nie oceniaj”. W kolejnym kroku człowiek ustala kryteria: korzyść dla nauki, wykonalność i możliwość sprawdzenia.</a:t>
            </a:r>
          </a:p>
          <a:p>
            <a:r>
              <a:rPr lang="pl-PL" sz="1200"/>
              <a:t>KONRAD — KONTRPRZYKŁAD: Ranking online wygląda atrakcyjnie, ale wymaga kont, trwałego zapisu i innych decyzji. Prosty licznik ukończenia można zbudować i sprawdzić od razu. Mniejszy zakres bywa lepszy do sprawdzenia hipotezy.</a:t>
            </a:r>
          </a:p>
          <a:p>
            <a:r>
              <a:rPr lang="pl-PL" sz="1200"/>
              <a:t>ZAMKNIJ DECYZJĘ: „Po dwóch różnych odpowiedziach licznik pokazuje 2/5; powtórne kliknięcie nie zmienia licznika; restart daje 0/5”. To kryterium odbioru, a nie opis „ma być intuicyjnie”.</a:t>
            </a:r>
          </a:p>
          <a:p>
            <a:r>
              <a:rPr lang="pl-PL" sz="1200"/>
              <a:t>10 MIN: 3 min różnorodność, 3 min kryteria, 4 min przejście do wymagania. Bez pracy w grupach.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70–80 min (10 min). Rodzaj: przerwa.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10 minut przerwy. Zapowiedz powrót do dwóch sposobów pracy z AI: uczenia się i szybkiego prototypowania. Nie ma nic do zapisania ani wykonania przez uczniów.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80–85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Karpathy opisał doświadczenia z vibe codingiem przy aplikacji MenuGen oraz pokazał codzienne użycie modeli w materiale How I use LLMs. Rozdzielamy prototypowanie i używanie AI do poznawania tematu.</a:t>
            </a:r>
          </a:p>
          <a:p>
            <a:r>
              <a:rPr lang="pl-PL" sz="1200"/>
              <a:t>Nie przedstawiamy jednej oficjalnej „metody Karpathy’ego”. Część o aktywnej nauce to nasza adaptacja dydaktyczna: własna próba, wskazówka, wyjaśnienie i zastosowanie bez czatu.</a:t>
            </a:r>
          </a:p>
          <a:p>
            <a:r>
              <a:rPr lang="pl-PL" sz="1200"/>
              <a:t>Źródła: https://karpathy.bearblog.dev/vibe-coding-menugen/ oraz https://www.youtube.com/watch?v=EWvNQjAaOHw . Nie trzeba otwierać filmu podczas prezentacji.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85–90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Tutor powinien dostosować pytanie do naszej odpowiedzi i pomagać zauważyć lukę. Jeżeli od razu daje rozwiązanie, możemy ominąć wysiłek potrzebny do zrozumienia. Praktyczny prompt prosi o jedno pytanie na raz i wskazówkę po własnej próbie.</a:t>
            </a:r>
          </a:p>
          <a:p>
            <a:r>
              <a:rPr lang="pl-PL" sz="1200"/>
              <a:t>Na przykładzie quizu wprowadzamy idempotencję: ponowienie tej samej operacji ma taki sam efekt jak jej jednokrotne wykonanie. W regule punktacji chodzi o to, aby ponowne kliknięcie tej samej odpowiedzi nie dodało kolejnego punktu.</a:t>
            </a:r>
          </a:p>
          <a:p>
            <a:r>
              <a:rPr lang="pl-PL" sz="1200"/>
              <a:t>Pochwała modelu nie jest pomiarem wiedzy. Potrzebny jest nowy przykład, którego wcześniej nie tłumaczył, i własne wyjaśnienie.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90–100 min (10 min). Rodzaj: przykład prowadzących.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Opowiedz o złudzeniu rozumienia: wyjaśnienie modelu czyta się łatwo, więc wydaje nam się, że umiemy temat. Dopiero własne wyjaśnienie lub nowe zadanie pokazuje lukę. To praktyczna wskazówka dydaktyczna, nie obietnica automatycznego efektu nauki.</a:t>
            </a:r>
          </a:p>
          <a:p>
            <a:r>
              <a:rPr lang="pl-PL" sz="1200"/>
              <a:t>DEMONSTRACJA Z GRZEGORZEM: Konrad pyta „Jeśli kliknę tę samą poprawną odpowiedź trzy razy, jaki powinien być wynik?”. Grzegorz odpowiada „Jeden punkt”. Konrad pyta „A gdy kod przy każdym kliknięciu wykonuje score = score + 1?”. Odpowiedź: „Trzy punkty; brakuje kontroli stanu”. Pokaż różnicę między wymaganiem a implementacją.</a:t>
            </a:r>
          </a:p>
          <a:p>
            <a:r>
              <a:rPr lang="pl-PL" sz="1200"/>
              <a:t>TRANSFER: Ustawienie answered = true po kolejnych wykonaniach zostawia true. Zwiększenie score o 1 za każdym razem zmienia wartość. Pierwsza operacja jest idempotentna w tym prostym modelu, druga nie. Nie oznacza to, że wynik quizu nigdy nie może wzrosnąć — odpowiedź na kolejne pytanie jest nowym zdarzeniem.</a:t>
            </a:r>
          </a:p>
          <a:p>
            <a:r>
              <a:rPr lang="pl-PL" sz="1200"/>
              <a:t>PROMPT TUTORA: „Zadaj jedno pytanie, poczekaj na moją próbę, wskaż jedną lukę i daj wskazówkę zamiast gotowego rozwiązania”. Nie prosimy o ujawnienie ukrytego toku myślenia, tylko o sprawdzalne wyjaśnienie.</a:t>
            </a:r>
          </a:p>
          <a:p>
            <a:r>
              <a:rPr lang="pl-PL" sz="1200"/>
              <a:t>10 MIN: 3 min pułapka gotowca, 4 min dialog prowadzących, 3 min przykład transferu. Całą rozmowę odgrywają prowadzący.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100–105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Vibe coding opisuje sposób tworzenia, w którym mocno polegamy na generowanym kodzie i sterujemy zmianami opisem. Pierwszy widoczny efekt może pojawić się szybko.</a:t>
            </a:r>
          </a:p>
          <a:p>
            <a:r>
              <a:rPr lang="pl-PL" sz="1200"/>
              <a:t>W relacji o MenuGen Karpathy wskazuje, że szybki lokalny prototyp był znacznie prostszy niż dopracowanie integracji i wdrożenia. To ważna granica: ekran, który wygląda jak produkt, nie potwierdza jego gotowości.</a:t>
            </a:r>
          </a:p>
          <a:p>
            <a:r>
              <a:rPr lang="pl-PL" sz="1200"/>
              <a:t>My dodajemy do szybkiego prototypowania etap zrozumienia reguły i testów. To adaptacja do nauki odpowiedzialnego korzystania z AI. W następnym przykładzie Grzegorz opowie, jak planuje zmianę, a Konrad pokaże, jak ją sprawdza.</a:t>
            </a:r>
          </a:p>
          <a:p>
            <a:r>
              <a:rPr lang="pl-PL" sz="1200"/>
              <a:t>Źródło: https://karpathy.bearblog.dev/vibe-coding-menugen/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105–110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Proces opisuje kolejność zdarzeń: start, pytanie, wybór, informacja zwrotna, kolejne pytanie, wynik, restart. Architektura opisuje części i ich odpowiedzialności.</a:t>
            </a:r>
          </a:p>
          <a:p>
            <a:r>
              <a:rPr lang="pl-PL" sz="1200"/>
              <a:t>Dane: pytania, opcje i klucz. Reguły: stan odpowiedzi, wynik i restart. Widok: treść i przyciski. W małym prototypie wszystko może być w jednym pliku, ale nadal da się rozróżnić te odpowiedzialności.</a:t>
            </a:r>
          </a:p>
          <a:p>
            <a:r>
              <a:rPr lang="pl-PL" sz="1200"/>
              <a:t>Przy dodaniu licznika postępu zmienia się reguła i widok; przy dodaniu pytania przede wszystkim dane. Sensowny podział ułatwia pytanie AI o małą zmianę i ogranicza przypadkowe zepsucie reszty. Nie zaczynamy od mikroserwisów do pięciopytaniowego quizu.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110–130 min (20 min). Rodzaj: przykład prowadzących.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 — HISTORIA PROTOTYPU: Mamy quiz z pięcioma pytaniami. Dodajemy licznik udzielonych odpowiedzi. Najpierw ustalamy, że licznik i punkty to różne wartości: błędna odpowiedź zwiększa postęp, ale nie wynik. Prosimy model o krótki plan, wskazanie danych, reguł i widoku. Dopiero potem powstaje kod.</a:t>
            </a:r>
          </a:p>
          <a:p>
            <a:r>
              <a:rPr lang="pl-PL" sz="1200"/>
              <a:t>POKAŻ NA EKRANIE, jeśli gotowy plik jest dostępny: quiz-start.html. Pokaż poprawną i błędną odpowiedź, wynik oraz restart. Nie instaluj narzędzi. Jeżeli aplikacja nie otwiera się od razu, przejdź do opisu zachowania na slajdzie.</a:t>
            </a:r>
          </a:p>
          <a:p>
            <a:r>
              <a:rPr lang="pl-PL" sz="1200"/>
              <a:t>KONRAD — DIAGNOZA: W quiz-do-testow.html kliknij tę samą odpowiedź wielokrotnie. „Jest błąd” to za mało. Raport brzmi: kroki — pierwsze pytanie, trzy kliknięcia HTML; oczekiwanie — jeden punkt; obserwacja — trzy punkty. To informacja pozwalająca celować w regułę naliczania.</a:t>
            </a:r>
          </a:p>
          <a:p>
            <a:r>
              <a:rPr lang="pl-PL" sz="1200"/>
              <a:t>GRZEGORZ — POPRAWKA: Najmniejsza zmiana sprawdza, czy na pytanie już odpowiedziano. Blokada przycisku poprawia interfejs, a kontrola stanu chroni regułę. Zmiana powinna zachować możliwość odpowiedzi na następne pytanie i zresetować stan po restarcie. Wyjaśnij zasadę bez przepisywania całego programu.</a:t>
            </a:r>
          </a:p>
          <a:p>
            <a:r>
              <a:rPr lang="pl-PL" sz="1200"/>
              <a:t>KONRAD — REGRESJA: Po poprawce sprawdzamy wynik 0/5 i 5/5, ponowne kliknięcie, klucz odpowiedzi oraz restart. Nie twierdzimy, że wykonaliśmy test, jeśli mamy jedynie sugestię AI.</a:t>
            </a:r>
          </a:p>
          <a:p>
            <a:r>
              <a:rPr lang="pl-PL" sz="1200"/>
              <a:t>GRANICA: Kod z nieznanymi połączeniami, bibliotekami lub żądaniem kluczy wymaga sprawdzenia. Warsztatowy prototyp działa lokalnie i nie potrzebuje kont ani sieci. W prawdziwym produkcie dochodzą m.in. obsługa danych, bezpieczeństwo, utrzymanie i obserwowalność.</a:t>
            </a:r>
          </a:p>
          <a:p>
            <a:r>
              <a:rPr lang="pl-PL" sz="1200"/>
              <a:t>20 MIN: 4 min zakres, 4 min proces tworzenia, 5 min błąd, 4 min poprawka i regresja, 3 min granice prototypu. Uczniowie oglądają demonstrację prowadzących.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130–135 min (5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Prompt zwykle opisuje pojedyncze zlecenie. Skill pakuje powtarzalny sposób wykonania wraz z informacją, kiedy go używać; może zawierać dodatkowe zasoby. Agent może korzystać ze skilla podczas pracy z narzędziami.</a:t>
            </a:r>
          </a:p>
          <a:p>
            <a:r>
              <a:rPr lang="pl-PL" sz="1200"/>
              <a:t>W formacie Agent Skills podstawą jest SKILL.md z nazwą, opisem oraz instrukcjami. Zgodny klient może odczytać metadane i załadować dalszą treść, gdy jest potrzebna. To zależy od środowiska.</a:t>
            </a:r>
          </a:p>
          <a:p>
            <a:r>
              <a:rPr lang="pl-PL" sz="1200"/>
              <a:t>Skill nie jest samym modelem, nie tworzy nowej inteligencji i nie nadaje sam z siebie dostępu do plików, internetu ani kont. Dobra procedura upraszcza powtarzalną pracę i wyraźnie wskazuje jej granice.</a:t>
            </a:r>
          </a:p>
          <a:p>
            <a:r>
              <a:rPr lang="pl-PL" sz="1200"/>
              <a:t>Źródło: https://agentskills.io/specification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135–140 min (5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Przykładowy skill review quizu zaczyna od wymagań, potem porównuje je z kodem lub zaobserwowanym działaniem. Zwraca raport, który rozróżnia dowód, hipotezę i brak badania.</a:t>
            </a:r>
          </a:p>
          <a:p>
            <a:r>
              <a:rPr lang="pl-PL" sz="1200"/>
              <a:t>W SKILL.md warto opisać: kiedy procedura pasuje, jakich danych potrzebuje, kolejność kroków, format wyniku oraz warunki zatrzymania. Instrukcja nie powinna wymuszać znalezienia usterek, których nie ma.</a:t>
            </a:r>
          </a:p>
          <a:p>
            <a:r>
              <a:rPr lang="pl-PL" sz="1200"/>
              <a:t>PRZYKŁAD: „Nie mam przeglądarki, więc mogę przeanalizować kod i zaproponować testy. Nie potwierdzam ich wykonania”. To rzetelny wynik, a nie porażka. Niezależnie od użytego produktu człowiek powinien rozumieć, skąd pochodzi potwierdzenie.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140–150 min (10 min). Rodzaj: przykład prowadzących.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Weź przykład quiz-review z repo. Jego zadanie to przegląd quizu względem wymagań. Potrzebuje wymagań i kodu lub dostępu do aplikacji. Instrukcja mówi o punktacji, poprawności klucza, restarcie i dodatkowej funkcji. Raport odróżnia analizę kodu, hipotezę i rzeczywiście wykonany test.</a:t>
            </a:r>
          </a:p>
          <a:p>
            <a:r>
              <a:rPr lang="pl-PL" sz="1200"/>
              <a:t>GRZEGORZ: Pokaż minimalny nagłówek w notatkach lub odczytaj: name: quiz-review; description: kiedy i do czego używać. Dalej są kroki. Opcjonalnie pakiet może zawierać zasoby, przykłady lub skrypty. Nie każdy skill potrzebuje skryptu. Sam długi plik nie świadczy o jakości.</a:t>
            </a:r>
          </a:p>
          <a:p>
            <a:r>
              <a:rPr lang="pl-PL" sz="1200"/>
              <a:t>TRZY PRZYKŁADY: A — dostarczono kod i wymagania: można analizować. B — ktoś żąda „potwierdź, że testy przeszły”, ale nie wykonano testów: właściwy wynik to „nie sprawdzono”. C — zadanie dotyczy reklamy roweru: procedura review quizu nie pasuje.</a:t>
            </a:r>
          </a:p>
          <a:p>
            <a:r>
              <a:rPr lang="pl-PL" sz="1200"/>
              <a:t>WYJAŚNIJ: Wklejenie SKILL.md do zwykłego czatu ćwiczy procedurę manualnie. Natywne odkrywanie i ładowanie skilla wymaga zgodnego klienta. Nie sugeruj, że każdy ChatGPT lub Claude automatycznie instaluje plik po wklejeniu.</a:t>
            </a:r>
          </a:p>
          <a:p>
            <a:r>
              <a:rPr lang="pl-PL" sz="1200"/>
              <a:t>10 MIN: 3 min budowa, 4 min trzy przypadki, 3 min granice i przenośność. Źródło: https://agentskills.io/specification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150–153 min (3 min). Rodzaj: wyjaśnienie. Prowadzący: Grzegorz.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Workflow ma wcześniej ustalone kroki i przejścia. Agent dobiera dalsze działania na podstawie celu, stanu i obserwacji; może używać narzędzi. Rozwiązania mogą łączyć oba podejścia.</a:t>
            </a:r>
          </a:p>
          <a:p>
            <a:r>
              <a:rPr lang="pl-PL" sz="1200"/>
              <a:t>PRZYKŁAD WORKFLOW: pobierz dane, zweryfikuj format, wygeneruj raport. PRZYKŁAD AGENTA: zbadaj awarię i wybierz następny test według poprzedniego wyniku.</a:t>
            </a:r>
          </a:p>
          <a:p>
            <a:r>
              <a:rPr lang="pl-PL" sz="1200"/>
              <a:t>Model odgrywający planistę, programistę i testera w jednej odpowiedzi nie staje się automatycznie trzema niezależnymi agentami. Sam opis narzędzia w prompcie nie daje dostępu do niego.</a:t>
            </a:r>
          </a:p>
          <a:p>
            <a:r>
              <a:rPr lang="pl-PL" sz="1200"/>
              <a:t>Źródło: https://www.anthropic.com/engineering/building-effective-agents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153–155 min (2 min). Rodzaj: wyjaśnienie.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KONRAD: Cel bez granic może prowadzić do zbyt szerokiego działania. Kontrakt określa wynik, narzędzia, zakres danych, limit kroków i warunek końca.</a:t>
            </a:r>
          </a:p>
          <a:p>
            <a:r>
              <a:rPr lang="pl-PL" sz="1200"/>
              <a:t>Na przykład: tylko wskazany lokalny quiz, trzy cykle, najwyżej pięć testów, bez publikacji i bez zmian w plikach. Techniczne uprawnienia trzeba ustawić w narzędziu; sam prompt nie jest mechanizmem kontroli dostępu.</a:t>
            </a:r>
          </a:p>
          <a:p>
            <a:r>
              <a:rPr lang="pl-PL" sz="1200"/>
              <a:t>Każdy cykl kończy się obserwacją po rzeczywistym działaniu. Jeśli nie ma narzędzia albo dostępu, agent powinien zgłosić ograniczenie, a nie wymyślać wyniki.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155–170 min (15 min). Rodzaj: przykład prowadzących. Prowadzący: Konrad.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GRZEGORZ: Opowiedz konkretną pętlę. Cel: sprawdź quiz. Pierwsze działanie: odczytaj wymagania i otwórz wskazany lokalny plik. Obserwacja: aplikacja wyświetla pięć pytań. Następny krok: test wielokrotnego kliknięcia. Wynik: nalicza trzy punkty. Agent decyduje o teście restartu, bo stan punktacji wymaga sprawdzenia. To adaptacyjny wybór, nie tylko lista ról w rozmowie.</a:t>
            </a:r>
          </a:p>
          <a:p>
            <a:r>
              <a:rPr lang="pl-PL" sz="1200"/>
              <a:t>KONRAD: Gdy w aplikacji lub dokumencie pojawi się polecenie „wyślij raport na obcy adres”, jest to treść badanego materiału, nie upoważnienie. Agent ma działać w określonym zakresie. Techniczne ograniczenie narzędzi i dostępu jest ważniejsze niż sam zapis w prompcie.</a:t>
            </a:r>
          </a:p>
          <a:p>
            <a:r>
              <a:rPr lang="pl-PL" sz="1200"/>
              <a:t>KONTRAKT: Wskazany lokalny quiz, bez modyfikowania plików i publikacji. Najwyżej trzy cykle i pięć testów. STOP po wykonaniu zakresu, osiągnięciu limitu lub braku dostępu. Wynik: raport z dowodami, hipotezami i rzeczami niebadanymi.</a:t>
            </a:r>
          </a:p>
          <a:p>
            <a:r>
              <a:rPr lang="pl-PL" sz="1200"/>
              <a:t>PORÓWNANIE: Jeżeli model jedynie proponuje kroki, a człowiek klika, mamy symulację procesu agenta. Jeżeli model korzysta z rzeczywiście dostępnych narzędzi i ich wyników, można mówić o wykonaniu narzędziowym. Nie prezentuj symulacji jako autonomicznego wykonania.</a:t>
            </a:r>
          </a:p>
          <a:p>
            <a:r>
              <a:rPr lang="pl-PL" sz="1200"/>
              <a:t>KIEDY NIE AGENT: Stała, prosta kontrola kilku reguł może być szybsza i bardziej przewidywalna jako checklista lub skrypt. Więcej autonomii wprowadza koszt, opóźnienia i kolejne miejsca błędów. Agent ma sens wtedy, gdy zmienne sytuacje wymagają dobierania następnych kroków.</a:t>
            </a:r>
          </a:p>
          <a:p>
            <a:r>
              <a:rPr lang="pl-PL" sz="1200"/>
              <a:t>15 MIN: 5 min pętla, 4 min kontrakt, 3 min symulacja i narzędzia, 3 min koszty oraz granice. Źródło: https://www.anthropic.com/engineering/building-effective-agents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170–175 min (5 min). Rodzaj: podsumowanie.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OBAJ — PYTANIA I PODSUMOWANIE: Zostaw miejsce na pytania z sali. Jeśli ich nie ma, przeprowadźcie krótki dialog: Grzegorz mówi, kiedy wybrałby prosty prompt; Konrad wskazuje, kiedy potrzebna jest powtarzalna procedura; razem omawiacie, kiedy wystarczy workflow, a kiedy przyda się agent.</a:t>
            </a:r>
          </a:p>
          <a:p>
            <a:r>
              <a:rPr lang="pl-PL" sz="1200"/>
              <a:t>TRZY TEZY: 1. Specyfikacja ogranicza zgadywanie. 2. Dowód jest ważniejszy od płynnego języka. 3. Więcej autonomii ma sens tylko przy konkretnym celu i kontroli. Nie zlecajcie demonstracji uczniom.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lstStyle/>
          <a:p>
            <a:r>
              <a:rPr lang="pl-PL" sz="1200"/>
              <a:t>Czas: 175–180 min (5 min). Rodzaj: podsumowanie. Prowadzący: Obaj.</a:t>
            </a:r>
          </a:p>
          <a:p>
            <a:r>
              <a:rPr lang="pl-PL" sz="1200"/>
              <a:t/>
            </a:r>
          </a:p>
          <a:p>
            <a:r>
              <a:rPr lang="pl-PL" sz="1200"/>
              <a:t>ZAKOŃCZENIE: Materiały do samodzielnej pracy są w https://github.com/holi87/warsztat-technikum/tree/main/zaawansowani . Uczniowie mogą pobrać ZIP repo, rozpakować i otworzyć zaawansowani/karta-pracy.html. Nie trzeba Gita ani płatnego API.</a:t>
            </a:r>
          </a:p>
          <a:p>
            <a:r>
              <a:rPr lang="pl-PL" sz="1200"/>
              <a:t>Zaproponuj kolejność domową: najpierw porównanie promptów i meta prompting, potem brainstorming i nauka, na końcu prototyp, skill i proces agenta. Kartę można wykonać etapami; nie trzeba robić wszystkiego jednego dnia.</a:t>
            </a:r>
          </a:p>
          <a:p>
            <a:r>
              <a:rPr lang="pl-PL" sz="1200"/>
              <a:t>Stara karta zawiera harmonogram pełnego warsztatu praktycznego. Na dzisiejszym spotkaniu obowiązuje prezentacja wykładowa; harmonogram karty służy jedynie do orientacji w samodzielnej pracy. Repo nie jest zmieniane.</a:t>
            </a:r>
          </a:p>
          <a:p>
            <a:r>
              <a:rPr lang="pl-PL" sz="1200"/>
              <a:t>Ostatnie minuty przeznacz na pytania i pokazanie linku. Nie wymagaj wysyłania historii rozmów ani danych konta.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konrad-bugi-ai.png"/><Relationship Id="rId4" Type="http://schemas.openxmlformats.org/officeDocument/2006/relationships/image" Target="../media/grzegorz-procesy-architektura-ai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6299042" cy="614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400" b="1" kern="0" spc="-66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AI: prompty i agenci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7987" y="1478260"/>
            <a:ext cx="6299042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87" y="2422723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Prompt engineering i meta prompting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3499048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Brainstorming i nauka z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87" y="4575373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Prototyp, testy i architektura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7987" y="5651798"/>
            <a:ext cx="6299042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i agenci pod kontrolą</a:t>
            </a:r>
            <a:endParaRPr lang="en-US" sz="1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7987" y="3114576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1" name="Shape 8"/>
          <p:cNvSpPr/>
          <p:nvPr/>
        </p:nvSpPr>
        <p:spPr>
          <a:xfrm>
            <a:off x="507987" y="4190901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  <p:sp>
        <p:nvSpPr>
          <p:cNvPr id="12" name="Shape 9"/>
          <p:cNvSpPr/>
          <p:nvPr/>
        </p:nvSpPr>
        <p:spPr>
          <a:xfrm>
            <a:off x="507987" y="5267226"/>
            <a:ext cx="6299042" cy="12700"/>
          </a:xfrm>
          <a:prstGeom prst="rect">
            <a:avLst/>
          </a:prstGeom>
          <a:solidFill>
            <a:srgbClr val="D5DCE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17572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b="1" kern="0" spc="-48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Prowadzący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412180"/>
            <a:ext cx="523226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Konrad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7987" y="1978521"/>
            <a:ext cx="523226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Senior Test Development Engineer</a:t>
            </a:r>
            <a:endParaRPr lang="en-US" sz="1600" dirty="0"/>
          </a:p>
          <a:p>
            <a:pPr algn="l">
              <a:lnSpc>
                <a:spcPct val="117000"/>
              </a:lnSpc>
              <a:buSzPct val="100000"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51439" y="1412180"/>
            <a:ext cx="5232269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b="1" kern="0" spc="-39" dirty="0">
                <a:solidFill>
                  <a:srgbClr val="1F2933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Grzegorz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51439" y="1978521"/>
            <a:ext cx="5232269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7000"/>
              </a:lnSpc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Architect, AI </a:t>
            </a:r>
            <a:r>
              <a:rPr lang="en-US" sz="1600" dirty="0" err="1">
                <a:solidFill>
                  <a:srgbClr val="1F29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Ambasador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86323" y="1158180"/>
            <a:ext cx="19050" cy="5191820"/>
          </a:xfrm>
          <a:prstGeom prst="rect">
            <a:avLst/>
          </a:prstGeom>
          <a:solidFill>
            <a:srgbClr val="0F8FA3"/>
          </a:solidFill>
          <a:ln/>
        </p:spPr>
      </p:sp>
      <p:pic>
        <p:nvPicPr>
          <p:cNvPr id="9" name="Konrad — szukanie bugów z AI" descr="Ilustracja AI: laptop, lupa z błędem i robot wspierający testowanie.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07997" y="2657475"/>
            <a:ext cx="5219700" cy="3479800"/>
          </a:xfrm>
          <a:prstGeom prst="rect">
            <a:avLst/>
          </a:prstGeom>
        </p:spPr>
      </p:pic>
      <p:pic>
        <p:nvPicPr>
          <p:cNvPr id="10" name="Grzegorz — procesy i architektura z AI" descr="Ilustracja AI: schemat procesu, aplikacja, serwer, baza danych i robot wspierający projektowanie.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451435" y="2657475"/>
            <a:ext cx="5219700" cy="3479800"/>
          </a:xfrm>
          <a:prstGeom prst="rect">
            <a:avLst/>
          </a:prstGeom>
        </p:spPr>
      </p:pic>
      <p:sp>
        <p:nvSpPr>
          <p:cNvPr id="11" name="Szukanie bugów z AI"/>
          <p:cNvSpPr txBox="1"/>
          <p:nvPr/>
        </p:nvSpPr>
        <p:spPr>
          <a:xfrm>
            <a:off x="507997" y="6286500"/>
            <a:ext cx="5219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pl-PL" sz="1800" b="1">
                <a:solidFill>
                  <a:srgbClr val="0F8FA3"/>
                </a:solidFill>
                <a:latin typeface="Noto Sans Bold"/>
              </a:rPr>
              <a:t>Szukanie bugów z AI</a:t>
            </a:r>
            <a:endParaRPr lang="pl-PL" sz="1800"/>
          </a:p>
        </p:txBody>
      </p:sp>
      <p:sp>
        <p:nvSpPr>
          <p:cNvPr id="12" name="Procesy i architektura z AI"/>
          <p:cNvSpPr txBox="1"/>
          <p:nvPr/>
        </p:nvSpPr>
        <p:spPr>
          <a:xfrm>
            <a:off x="6451435" y="6286500"/>
            <a:ext cx="52197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pl-PL" sz="1800" b="1">
                <a:solidFill>
                  <a:srgbClr val="0F8FA3"/>
                </a:solidFill>
                <a:latin typeface="Noto Sans Bold"/>
              </a:rPr>
              <a:t>Procesy i architektura z AI</a:t>
            </a:r>
            <a:endParaRPr lang="pl-PL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Bezpieczne korzystanie z AI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Dane, wiarygodność i kontrola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Nie wklejaj haseł, danych osobowych i poufnych plików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Sprawdzaj fakty, źródła i wygenerowany kod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Kontroluj linki, instalacje i uprawnienia narzędzi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Przekazuj tylko potrzebne dane. Sprawdzaj przed działaniem.</a:t>
            </a:r>
            <a:endParaRPr lang="pl-PL" sz="20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Cel, dowód, granice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Budujemy lokalny prototyp quizu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Dane ćwiczeniowe zamiast danych osobowych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Tekst źródłowy może zawierać obce polecenia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Narzędzia i uprawnienia tylko do zadania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AI proponuje. Człowiek sprawdza wynik.</a:t>
            </a:r>
            <a:endParaRPr lang="pl-PL" sz="202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Prompt jako specyfikacja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Cel → kontekst → ograniczenia → format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Podaj źródło i granice zadania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Pokaż mały przykład poprawnego wyniku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Ustal zachowanie przy braku danych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Przykłady pokazują format i sposób wykonania zadania.</a:t>
            </a:r>
            <a:endParaRPr lang="pl-PL" sz="202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Lepszy prompt? Pokaż wynik.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Ten sam model. Te same dane. Nowy czat.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V0: krótka prośba / V1: pełny kontrakt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Pięć kryteriów oceny dla każdego przypadku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Nowe przypadki dopiero po zamrożeniu promptu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Oceniamy wynik, nie długość odpowiedzi.</a:t>
            </a:r>
            <a:endParaRPr lang="pl-PL" sz="202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Ten sam cel, dwa różne prompty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„Zrób quiz” → jednoznaczny kontrakt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Dla kogo? Z jakiego źródła? Ile pytań?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Jaki format i co zrobić, gdy brakuje danych?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Jak sprawdzimy odpowiedź?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Cel + kontekst + ograniczenia + kryterium jakości</a:t>
            </a:r>
            <a:endParaRPr lang="pl-PL" sz="202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Meta prompting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AI pomaga zaprojektować instrukcję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Wejście: prompt, kontrakt i znaleziony błąd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Wyjście: nowy prompt oraz opis zmiany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Sprawdzian: nieznane wcześniej przypadki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Poprawa instrukcji nie jest dowodem poprawy wyniku.</a:t>
            </a:r>
            <a:endParaRPr lang="pl-PL" sz="20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Jak działa meta prompting?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Cel → pytania → instrukcja → weryfikacja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AI pomaga ujawnić brakujące wymagania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Tworzy prompt, który wykonamy osobno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Nową wersję oceniamy na nowych przypadkach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Prompt do tworzenia promptu nadal wymaga oceny.</a:t>
            </a:r>
            <a:endParaRPr lang="pl-PL" sz="2025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Brainstorming w dwóch fazach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Najpierw różnorodność. Potem wybór.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Własne pomysły przed sugestiami modelu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Wiele różnych możliwości bez szybkiej oceny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Wybór według jawnych kryteriów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Sześć parafraz jednego pomysłu to nie sześć pomysłów.</a:t>
            </a:r>
            <a:endParaRPr lang="pl-PL" sz="202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Od wielu pomysłów do jednej decyzji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Różnorodność → kryteria → wybór → zakres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Szukamy różnych sposobów rozwiązania problemu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Oddzielamy pomysły od ich oceny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Wybieramy mały, sprawdzalny efekt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AI poszerza listę. Decyzja potrzebuje kryteriów.</a:t>
            </a:r>
            <a:endParaRPr lang="pl-PL" sz="202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Przerwa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962150"/>
            <a:ext cx="11182350" cy="1581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7800" b="1">
                <a:solidFill>
                  <a:srgbClr val="0F8FA3"/>
                </a:solidFill>
                <a:latin typeface="Noto Sans Bold"/>
              </a:rPr>
              <a:t>10 minut</a:t>
            </a:r>
            <a:endParaRPr lang="pl-PL" sz="7800"/>
          </a:p>
        </p:txBody>
      </p:sp>
      <p:sp>
        <p:nvSpPr>
          <p:cNvPr id="4" name="Text 5"/>
          <p:cNvSpPr txBox="1"/>
          <p:nvPr/>
        </p:nvSpPr>
        <p:spPr>
          <a:xfrm>
            <a:off x="504825" y="3990975"/>
            <a:ext cx="104775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700" b="0">
                <a:solidFill>
                  <a:srgbClr val="1F2933"/>
                </a:solidFill>
                <a:latin typeface="Noto Sans"/>
              </a:rPr>
              <a:t>Wracamy za 10 minut</a:t>
            </a:r>
            <a:endParaRPr lang="pl-PL" sz="2700"/>
          </a:p>
        </p:txBody>
      </p:sp>
      <p:sp>
        <p:nvSpPr>
          <p:cNvPr id="5" name="Text 6"/>
          <p:cNvSpPr txBox="1"/>
          <p:nvPr/>
        </p:nvSpPr>
        <p:spPr>
          <a:xfrm>
            <a:off x="504825" y="5143500"/>
            <a:ext cx="1047750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250" b="0">
                <a:solidFill>
                  <a:srgbClr val="1F2933"/>
                </a:solidFill>
                <a:latin typeface="Noto Sans"/>
              </a:rPr>
              <a:t>Dalej: nauka z AI, prototypy, skills i agenci</a:t>
            </a:r>
            <a:endParaRPr lang="pl-PL" sz="2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Karpathy: dwa wątki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Prototypowanie oraz poznawanie tematu z AI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Vibe coding: opis → kod → obserwacja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Nauka: pytania, przykłady i własne próby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Nasza adaptacja: samodzielny test zrozumienia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To dwa zastosowania, nie jedna formalna metoda.</a:t>
            </a:r>
            <a:endParaRPr lang="pl-PL" sz="202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AI jako tutor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Potrafię wyjaśnić i zastosować bez czatu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Przewidywanie wyniku przed wyjaśnieniem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Wskazówka zamiast natychmiastowego rozwiązania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Nowy przykład jako sprawdzian zrozumienia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Płynna odpowiedź modelu nie mierzy Twojej wiedzy.</a:t>
            </a:r>
            <a:endParaRPr lang="pl-PL" sz="2025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Dlaczego gotowiec nie uczy?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Znajomość odpowiedzi ≠ umiejętność zastosowania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Najpierw własna próba i przewidywanie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Potem wskazówka oraz informacja zwrotna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 końcu nowy przykład bez pomocy AI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Sprawdzianem nauki jest samodzielne zastosowanie.</a:t>
            </a:r>
            <a:endParaRPr lang="pl-PL" sz="202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Vibe coding i jego granice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Szybki prototyp → zrozumiała poprawka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Najpierw opis zachowania i mały zakres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Potem uruchomienie i konkretna obserwacja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 końcu wyjaśnienie zmienionej reguły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Działające demo nie dowodzi gotowości produktu.</a:t>
            </a:r>
            <a:endParaRPr lang="pl-PL" sz="2025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Proces i architektura prototypu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Dane → reguły → widok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Dane: pytania i klucz odpowiedzi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Reguły: stan, punktacja, restart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Widok: pytanie, przyciski, informacja zwrotna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Jedna funkcja. Jedno miejsce odpowiedzialności.</a:t>
            </a:r>
            <a:endParaRPr lang="pl-PL" sz="2025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Od opisu do działającego prototypu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Mały zakres → plan → kod → test → poprawka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AI tworzy pierwszą wersję na podstawie opisu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Obserwacja błędu kieruje kolejną zmianą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Każda poprawka wymaga sprawdzenia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„Wygląda dobrze” to początek oceny.</a:t>
            </a:r>
            <a:endParaRPr lang="pl-PL" sz="2025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Skill: procedura do ponownego użycia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Kiedy użyć + jak działać + co zwrócić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Prompt obsługuje pojedyncze zlecenie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Skill pakuje powtarzalny sposób wykonania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Agent może wybrać skill i użyć narzędzi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Skill sam z siebie nie nadaje uprawnień.</a:t>
            </a:r>
            <a:endParaRPr lang="pl-PL" sz="2025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Co trafia do SKILL.md?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Przykład: przegląd lokalnego quizu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Opis: kiedy procedura ma się uruchomić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Kroki: wymagania → ryzyka → dowody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Raport: potwierdzone / podejrzane / niebadane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„Nie sprawdzono” jest poprawnym wynikiem.</a:t>
            </a:r>
            <a:endParaRPr lang="pl-PL" sz="2025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Dobry skill ma wyraźne granice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Uruchomienie → procedura → dowód → raport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Kiedy używać i jakich danych potrzeba?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Co sprawdzić i jaki wynik zwrócić?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Kiedy zgłosić brak danych lub zatrzymać pracę?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Procedura powinna działać także w trudnym przypadku.</a:t>
            </a:r>
            <a:endParaRPr lang="pl-PL" sz="2025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Workflow czy agent?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Kto wybiera następny krok?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Workflow: wcześniej ustalona sekwencja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Agent: wybór kroku na podstawie obserwacji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Narzędzia: rzeczywisty odczyt lub działanie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Rozmowa kilku ról nie dowodzi pracy wielu agentów.</a:t>
            </a:r>
            <a:endParaRPr lang="pl-PL" sz="2025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Cel → narzędzie → obserwacja → decyzja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Sprawdź punktację i restart quizu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Dostęp: wskazany lokalny plik i przeglądarka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Budżet: trzy cykle, najwyżej pięć testów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STOP: raport albo brak potrzebnego dostępu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Bez obserwacji nie ma potwierdzonego wyniku.</a:t>
            </a:r>
            <a:endParaRPr lang="pl-PL" sz="2025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Jak agent podejmuje kolejny krok?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Obserwacja zmienia plan działania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Cel: sprawdzić punktację i restart quizu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Dowód: faktyczny wynik użycia narzędzia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Koniec: raport, limit albo brak dostępu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Plan działania nie jest dowodem jego wykonania.</a:t>
            </a:r>
            <a:endParaRPr lang="pl-PL" sz="2025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Prompt, skill, workflow czy agent?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Dobieramy sposób pracy do problemu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Jedno zadanie: jasny prompt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Powtarzalna procedura: skill lub workflow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Zmienne kroki i narzędzia: agent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Prostota jest zaletą, jeśli pozwala osiągnąć cel.</a:t>
            </a:r>
            <a:endParaRPr lang="pl-PL" sz="202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 txBox="1"/>
          <p:nvPr/>
        </p:nvSpPr>
        <p:spPr>
          <a:xfrm>
            <a:off x="504825" y="438150"/>
            <a:ext cx="1118235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3150" b="1">
                <a:solidFill>
                  <a:srgbClr val="1F2933"/>
                </a:solidFill>
                <a:latin typeface="Noto Sans Bold"/>
              </a:rPr>
              <a:t>Ćwiczenia do domu</a:t>
            </a:r>
            <a:endParaRPr lang="pl-PL" sz="3150"/>
          </a:p>
        </p:txBody>
      </p:sp>
      <p:sp>
        <p:nvSpPr>
          <p:cNvPr id="3" name="Text 4"/>
          <p:cNvSpPr txBox="1"/>
          <p:nvPr/>
        </p:nvSpPr>
        <p:spPr>
          <a:xfrm>
            <a:off x="504825" y="1409700"/>
            <a:ext cx="11182350" cy="66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325" b="1">
                <a:solidFill>
                  <a:srgbClr val="0F8FA3"/>
                </a:solidFill>
                <a:latin typeface="Noto Sans Bold"/>
              </a:rPr>
              <a:t>Materiały, dane, prompty i przykłady w repo</a:t>
            </a:r>
            <a:endParaRPr lang="pl-PL" sz="2325"/>
          </a:p>
        </p:txBody>
      </p:sp>
      <p:sp>
        <p:nvSpPr>
          <p:cNvPr id="4" name="Text 5"/>
          <p:cNvSpPr txBox="1"/>
          <p:nvPr/>
        </p:nvSpPr>
        <p:spPr>
          <a:xfrm>
            <a:off x="504825" y="257175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github.com/holi87/warsztat-technikum</a:t>
            </a:r>
            <a:endParaRPr lang="pl-PL" sz="2400"/>
          </a:p>
        </p:txBody>
      </p:sp>
      <p:sp>
        <p:nvSpPr>
          <p:cNvPr id="5" name="Text 6"/>
          <p:cNvSpPr txBox="1"/>
          <p:nvPr/>
        </p:nvSpPr>
        <p:spPr>
          <a:xfrm>
            <a:off x="504825" y="3419475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Folder: zaawansowani</a:t>
            </a:r>
            <a:endParaRPr lang="pl-PL" sz="2400"/>
          </a:p>
        </p:txBody>
      </p:sp>
      <p:sp>
        <p:nvSpPr>
          <p:cNvPr id="6" name="Text 7"/>
          <p:cNvSpPr txBox="1"/>
          <p:nvPr/>
        </p:nvSpPr>
        <p:spPr>
          <a:xfrm>
            <a:off x="504825" y="4267200"/>
            <a:ext cx="11182350" cy="6953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400" b="0">
                <a:solidFill>
                  <a:srgbClr val="1F2933"/>
                </a:solidFill>
                <a:latin typeface="Noto Sans"/>
              </a:rPr>
              <a:t>Po pobraniu ZIP: karta-pracy.html</a:t>
            </a:r>
            <a:endParaRPr lang="pl-PL" sz="2400"/>
          </a:p>
        </p:txBody>
      </p:sp>
      <p:sp>
        <p:nvSpPr>
          <p:cNvPr id="7" name="Text 8"/>
          <p:cNvSpPr txBox="1"/>
          <p:nvPr/>
        </p:nvSpPr>
        <p:spPr>
          <a:xfrm>
            <a:off x="504825" y="5686425"/>
            <a:ext cx="11182350" cy="809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buNone/>
            </a:pPr>
            <a:r>
              <a:rPr lang="pl-PL" sz="2025" b="1">
                <a:solidFill>
                  <a:srgbClr val="0F8FA3"/>
                </a:solidFill>
                <a:latin typeface="Noto Sans Bold"/>
              </a:rPr>
              <a:t>Można pracować etapami, w Claude lub ChatGPT.</a:t>
            </a:r>
            <a:endParaRPr lang="pl-PL" sz="20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</Words>
  <Application>Microsoft Macintosh PowerPoint</Application>
  <PresentationFormat>Panoramiczny</PresentationFormat>
  <Paragraphs>78</Paragraphs>
  <Slides>26</Slides>
  <Notes>26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Grzegorz Holak</cp:lastModifiedBy>
  <cp:revision>2</cp:revision>
  <dcterms:created xsi:type="dcterms:W3CDTF">2026-09-21T17:29:57Z</dcterms:created>
  <dcterms:modified xsi:type="dcterms:W3CDTF">2026-09-29T17:22:58Z</dcterms:modified>
</cp:coreProperties>
</file>