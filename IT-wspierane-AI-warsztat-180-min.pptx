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workshop1"/>
    <p:sldId id="257" r:id="workshop2"/>
    <p:sldId id="258" r:id="workshop3"/>
    <p:sldId id="259" r:id="workshop4"/>
    <p:sldId id="260" r:id="workshop5"/>
    <p:sldId id="261" r:id="workshop6"/>
    <p:sldId id="262" r:id="workshop7"/>
    <p:sldId id="263" r:id="workshop8"/>
    <p:sldId id="264" r:id="workshop9"/>
    <p:sldId id="265" r:id="workshop10"/>
    <p:sldId id="266" r:id="workshop11"/>
    <p:sldId id="267" r:id="workshop12"/>
    <p:sldId id="268" r:id="workshop13"/>
    <p:sldId id="269" r:id="workshop14"/>
    <p:sldId id="270" r:id="workshop15"/>
    <p:sldId id="271" r:id="workshop16"/>
    <p:sldId id="272" r:id="workshop17"/>
    <p:sldId id="273" r:id="workshop18"/>
    <p:sldId id="274" r:id="workshop19"/>
    <p:sldId id="275" r:id="workshop20"/>
    <p:sldId id="276" r:id="workshop21"/>
    <p:sldId id="277" r:id="workshop22"/>
    <p:sldId id="278" r:id="workshop23"/>
    <p:sldId id="279" r:id="workshop24"/>
  </p:sldIdLst>
  <p:sldSz cx="12192000" cy="6858000"/>
  <p:notesSz cx="6858000" cy="12192000"/>
  <p:embeddedFontLst>
    <p:embeddedFont>
      <p:font typeface="Noto Sans" panose="020B0502040504020204" pitchFamily="34" charset="0"/>
      <p:regular r:id="rId13"/>
    </p:embeddedFont>
    <p:embeddedFont>
      <p:font typeface="Noto Sans Bold" panose="020B0502040504020204" pitchFamily="34" charset="0"/>
      <p:regular r:id="rId14"/>
      <p:bold r:id="rId15"/>
    </p:embeddedFont>
    <p:embeddedFont>
      <p:font typeface="Noto Sans Medium" panose="020B0502040504020204" pitchFamily="34" charset="0"/>
      <p:regular r:id="rId16"/>
    </p:embeddedFont>
    <p:embeddedFont>
      <p:font typeface="Noto Sans SemiBold" panose="020B0502040504020204" pitchFamily="34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1" Type="http://schemas.openxmlformats.org/officeDocument/2006/relationships/theme" Target="theme/theme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3.fntdata"/><Relationship Id="rId19" Type="http://schemas.openxmlformats.org/officeDocument/2006/relationships/presProps" Target="presProps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Relationship Id="workshop1" Type="http://schemas.openxmlformats.org/officeDocument/2006/relationships/slide" Target="slides/slide1.xml"/><Relationship Id="workshop2" Type="http://schemas.openxmlformats.org/officeDocument/2006/relationships/slide" Target="slides/slide2.xml"/><Relationship Id="workshop3" Type="http://schemas.openxmlformats.org/officeDocument/2006/relationships/slide" Target="slides/slide3.xml"/><Relationship Id="workshop4" Type="http://schemas.openxmlformats.org/officeDocument/2006/relationships/slide" Target="slides/slide4.xml"/><Relationship Id="workshop5" Type="http://schemas.openxmlformats.org/officeDocument/2006/relationships/slide" Target="slides/slide5.xml"/><Relationship Id="workshop6" Type="http://schemas.openxmlformats.org/officeDocument/2006/relationships/slide" Target="slides/slide6.xml"/><Relationship Id="workshop7" Type="http://schemas.openxmlformats.org/officeDocument/2006/relationships/slide" Target="slides/slide7.xml"/><Relationship Id="workshop8" Type="http://schemas.openxmlformats.org/officeDocument/2006/relationships/slide" Target="slides/slide8.xml"/><Relationship Id="workshop9" Type="http://schemas.openxmlformats.org/officeDocument/2006/relationships/slide" Target="slides/slide9.xml"/><Relationship Id="workshop10" Type="http://schemas.openxmlformats.org/officeDocument/2006/relationships/slide" Target="slides/slide10.xml"/><Relationship Id="workshop11" Type="http://schemas.openxmlformats.org/officeDocument/2006/relationships/slide" Target="slides/slide11.xml"/><Relationship Id="workshop12" Type="http://schemas.openxmlformats.org/officeDocument/2006/relationships/slide" Target="slides/slide12.xml"/><Relationship Id="workshop13" Type="http://schemas.openxmlformats.org/officeDocument/2006/relationships/slide" Target="slides/slide13.xml"/><Relationship Id="workshop14" Type="http://schemas.openxmlformats.org/officeDocument/2006/relationships/slide" Target="slides/slide14.xml"/><Relationship Id="workshop15" Type="http://schemas.openxmlformats.org/officeDocument/2006/relationships/slide" Target="slides/slide15.xml"/><Relationship Id="workshop16" Type="http://schemas.openxmlformats.org/officeDocument/2006/relationships/slide" Target="slides/slide16.xml"/><Relationship Id="workshop17" Type="http://schemas.openxmlformats.org/officeDocument/2006/relationships/slide" Target="slides/slide17.xml"/><Relationship Id="workshop18" Type="http://schemas.openxmlformats.org/officeDocument/2006/relationships/slide" Target="slides/slide18.xml"/><Relationship Id="workshop19" Type="http://schemas.openxmlformats.org/officeDocument/2006/relationships/slide" Target="slides/slide19.xml"/><Relationship Id="workshop20" Type="http://schemas.openxmlformats.org/officeDocument/2006/relationships/slide" Target="slides/slide20.xml"/><Relationship Id="workshop21" Type="http://schemas.openxmlformats.org/officeDocument/2006/relationships/slide" Target="slides/slide21.xml"/><Relationship Id="workshop22" Type="http://schemas.openxmlformats.org/officeDocument/2006/relationships/slide" Target="slides/slide22.xml"/><Relationship Id="workshop23" Type="http://schemas.openxmlformats.org/officeDocument/2006/relationships/slide" Target="slides/slide23.xml"/><Relationship Id="workshop24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0–3 min (3 min). Rodzaj: wyjaśnienie.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Dziś stworzycie małą aplikację z pomocą AI. Najpierw ustalimy, co można bezpiecznie przekazać narzędziu. Potem nauczycie się opisywać zadanie, zbudujecie quiz i sprawdzicie, czy działa. Nie trzeba umieć programować. Trzeba próbować, czytać odpowiedzi i sprawdzać efekt.</a:t>
            </a:r>
          </a:p>
          <a:p>
            <a:r>
              <a:rPr lang="pl-PL" sz="1200"/>
              <a:t>ZAPYTAJ: Kto korzystał z AI w ostatnim tygodniu? Do czego? Przyjmij 2–3 krótkie odpowiedzi, bez rundki całej sali.</a:t>
            </a:r>
          </a:p>
          <a:p>
            <a:r>
              <a:rPr lang="pl-PL" sz="1200"/>
              <a:t>ORGANIZACJA: Pracujemy na fikcyjnych lub dostarczonych danych. Przy jednym komputerze na parę zmieniajcie osobę obsługującą. Przerwa zaczyna się w 70. minucie. Na końcu każdy ma zapisać swój plik.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3–5 min (2 min). Rodzaj: wyjaśnienie.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Konrad pokaże, jak szukać błędów i sprawdzać pomysły AI. Grzegorz pokaże, jak opisać proces oraz zaplanować części aplikacji. Gdy jeden z nas prowadzi, drugi pomaga przy komputerach.</a:t>
            </a:r>
          </a:p>
          <a:p>
            <a:r>
              <a:rPr lang="pl-PL" sz="1200"/>
              <a:t>Krótko przedstawcie się własnymi słowami. Nie dodawajcie długich historii zawodowych. Nazwy stanowisk pozostają zgodne z prezentacją źródłową.</a:t>
            </a:r>
          </a:p>
          <a:p>
            <a:r>
              <a:rPr lang="pl-PL" sz="1200"/>
              <a:t>Ilustracje symbolizują obszary pracy prowadzących. Wygenerowano je narzędziem image_gen; nie są portretami.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5–7 min (2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Generatywna AI tworzy odpowiedzi, na przykład tekst, kod i obrazy. W rozmowie korzysta z przekazanego kontekstu i wzorców poznanych podczas uczenia. Może pomóc wyjaśnić pojęcie albo przygotować pierwszą wersję programu. Potrafi też odpowiedzieć przekonująco i błędnie.</a:t>
            </a:r>
          </a:p>
          <a:p>
            <a:r>
              <a:rPr lang="pl-PL" sz="1200"/>
              <a:t>Nie zakładamy, że każda odpowiedź została sprawdzona w internecie. Dostęp do wyszukiwania zależy od narzędzia i jego funkcji. Dzisiaj punktem odniesienia będzie krótka notatka o HTML, CSS i JavaScript oraz nasze wymagania.</a:t>
            </a:r>
          </a:p>
          <a:p>
            <a:r>
              <a:rPr lang="pl-PL" sz="1200"/>
              <a:t>ZAPYTAJ: Po czym poznalibyście, że quiz przygotowany przez AI jest poprawny? Zbierz dwie odpowiedzi i zapowiedz, że sprawdzimy zarówno wiedzę, jak i działanie programu.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7–10 min (3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POKAŻ: Otwórz prowadzacy/quiz-demo.html. Odpowiedz raz dobrze i raz źle. Pokaż informację zwrotną, wynik oraz restart. Nie omawiaj jeszcze kodu.</a:t>
            </a:r>
          </a:p>
          <a:p>
            <a:r>
              <a:rPr lang="pl-PL" sz="1200"/>
              <a:t>POWIEDZ: To przykład końcowego efektu. Wasza wersja może wyglądać inaczej. Ustalimy jednak wspólne zasady: pięć pytań, jedna odpowiedź na pytanie, jeden punkt za poprawną odpowiedź i restart od zera. Wygląd nie jest dowodem poprawności.</a:t>
            </a:r>
          </a:p>
          <a:p>
            <a:r>
              <a:rPr lang="pl-PL" sz="1200"/>
              <a:t>ORGANIZACJA: Wskaż uczniom folder uczen i plik karta-pracy.html. Konta i uruchamianie HTML powinny być sprawdzone przed zajęciami. Osoby bez dostępu do AI mogą użyć pliku startowego i zapisanych przykładów odpowiedzi w karcie pracy.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10–15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Do rozmowy przekazujemy tylko to, co jest potrzebne. Dzisiaj nie wpisujemy nazwisk kolegów, ocen, numerów telefonów, haseł ani kluczy do usług. Korzystamy z naszej notatki i wymyślonych przykładów. Jeśli dane nie są potrzebne do zadania, po prostu je pomijamy.</a:t>
            </a:r>
          </a:p>
          <a:p>
            <a:r>
              <a:rPr lang="pl-PL" sz="1200"/>
              <a:t>POKAŻ: Zamiast prośby o quiz dla konkretnego ucznia z podanym nazwiskiem i ocenami wpisz: „Quiz dla początkującej osoby, która uczy się podstaw stron WWW”. Cel pozostaje jasny bez prywatnych informacji.</a:t>
            </a:r>
          </a:p>
          <a:p>
            <a:r>
              <a:rPr lang="pl-PL" sz="1200"/>
              <a:t>Ustawienia prywatności, przechowywanie i wykorzystanie rozmów zależą od narzędzia i konta. Nie obiecuj, że każde darmowe albo płatne narzędzie traktuje dane tak samo. Na szkolnych komputerach pracujemy zgodnie z zasadami szkoły i na zatwierdzonych kontach.</a:t>
            </a:r>
          </a:p>
          <a:p>
            <a:r>
              <a:rPr lang="pl-PL" sz="1200"/>
              <a:t>Źródło: UNESCO, Guidance for generative AI in education and research, https://www.unesco.org/en/articles/guidance-generative-ai-education-and-research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15–20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Ładny język, znajomy głos albo logo nie wystarczają do potwierdzenia nadawcy. W podejrzanej wiadomości zwróćcie uwagę na presję czasu, prośbę o pieniądze, logowanie albo instalację. AI może ułatwiać przygotowanie takich treści.</a:t>
            </a:r>
          </a:p>
          <a:p>
            <a:r>
              <a:rPr lang="pl-PL" sz="1200"/>
              <a:t>POKAŻ: „Potrzebuję pilnie kodu BLIK”. Zapytaj, co zrobimy przed odpowiedzią. Oczekiwana reakcja: kontakt ze znajomym przez znany wcześniej numer, a nie dane kontaktowe podane w podejrzanej wiadomości.</a:t>
            </a:r>
          </a:p>
          <a:p>
            <a:r>
              <a:rPr lang="pl-PL" sz="1200"/>
              <a:t>Nie ucz wykrywania oszustw wyłącznie po literówkach albo wyglądzie. Nie otwierajcie podejrzanych linków podczas ćwiczenia i niczego nie instalujcie. Analizujemy opisy trzech fikcyjnych sytuacji.</a:t>
            </a:r>
          </a:p>
          <a:p>
            <a:r>
              <a:rPr lang="pl-PL" sz="1200"/>
              <a:t>Źródło: NCSC, Phishing attacks: defending your organisation, https://www.ncsc.gov.uk/guidance/phishing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20–30 min (10 min). Rodzaj: ćwiczenie.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MATERIAŁ: karta-pracy.html, sekcja 1. Sytuacje: dane kolegi w prośbie do AI, pilna prośba o BLIK, nieznany dodatek „wymagany” do quizu.</a:t>
            </a:r>
          </a:p>
          <a:p>
            <a:r>
              <a:rPr lang="pl-PL" sz="1200"/>
              <a:t>PRZEBIEG: 1 minuta na instrukcję i przeczytanie, 6 minut pracy samodzielnej lub w parach, 3 minuty na porównanie odpowiedzi. Nie używamy prawdziwych danych i nie klikamy linków.</a:t>
            </a:r>
          </a:p>
          <a:p>
            <a:r>
              <a:rPr lang="pl-PL" sz="1200"/>
              <a:t>KLUCZ: A — usuń dane identyfikujące i oceny, opisz poziom nauki. B — wstrzymaj działanie i potwierdź prośbę znanym wcześniej kanałem. C — nie instaluj, zapytaj prowadzącego i użyj przygotowanego sposobu uruchomienia quizu.</a:t>
            </a:r>
          </a:p>
          <a:p>
            <a:r>
              <a:rPr lang="pl-PL" sz="1200"/>
              <a:t>PODSUMUJ: Ważna jest decyzja i sposób jej sprawdzenia, nie samo nazwanie zagrożenia. Jeśli uczniowie skończą wcześniej, niech uproszczą pierwszy prompt.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30–35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Prompt to instrukcja, którą przekazujemy narzędziu. Pomagają cztery elementy: cel, kontekst, wymagania i format odpowiedzi. Nie jest to magiczna formuła. Konkretny opis po prostu ogranicza zgadywanie.</a:t>
            </a:r>
          </a:p>
          <a:p>
            <a:r>
              <a:rPr lang="pl-PL" sz="1200"/>
              <a:t>POKAŻ: Najpierw polecenie „Zrób quiz”. Zapytaj: z czego, dla kogo, ile pytań, jak poznamy odpowiedź? Następnie użyj promptu P1 z karty pracy i dołącz notatkę źródłową. Chcemy pięć pytań, po trzy odpowiedzi, jedną poprawną i krótkie uzasadnienie oparte na źródle. Na tym etapie prosimy o tabelę, bez kodu.</a:t>
            </a:r>
          </a:p>
          <a:p>
            <a:r>
              <a:rPr lang="pl-PL" sz="1200"/>
              <a:t>Jeżeli wynik pojawia się wolno, pokaż zapisany przykład zamiast czekać. To przykład przygotowany do demonstracji, nie relacja z odpowiedzi na żywo.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35–40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Nie musicie od razu napisać idealnego polecenia. Praca z AI to także czytanie wyniku i precyzyjna informacja zwrotna. „Popraw to” nie mówi, co jest nie tak. „Pytanie 4 wykracza poza notatkę” wskazuje problem i zakres zmiany.</a:t>
            </a:r>
          </a:p>
          <a:p>
            <a:r>
              <a:rPr lang="pl-PL" sz="1200"/>
              <a:t>POKAŻ: W przygotowanym przykładzie pytanie o datę powstania JavaScript nie ma odpowiedzi w notatce. Poproś o zastąpienie go pytaniem opartym na źródle. Potem porównaj nową odpowiedź z notatką. Jeśli żywa odpowiedź od początku jest dobra, nie udawaj błędu: użyj przygotowanego przykładu.</a:t>
            </a:r>
          </a:p>
          <a:p>
            <a:r>
              <a:rPr lang="pl-PL" sz="1200"/>
              <a:t>ZAPYTAJ: Co sprawdzimy w wyniku? Liczbę pytań, liczbę odpowiedzi, jeden poprawny wariant, zgodność ze źródłem i zrozumiały język. Samo zapewnienie AI „teraz jest poprawnie” nie kończy sprawdzania.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40–55 min (15 min). Rodzaj: ćwiczenie.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MATERIAŁ: karta-pracy.html, sekcja 2 oraz notatka-zrodlowa.txt. Uczniowie wklejają notatkę razem z promptem P1. Na razie nie generują aplikacji.</a:t>
            </a:r>
          </a:p>
          <a:p>
            <a:r>
              <a:rPr lang="pl-PL" sz="1200"/>
              <a:t>PRZEBIEG: 2 minuty na wybór lub dopasowanie szkieletu, 8 minut na rozmowę i porównanie ze źródłem, 3 minuty na korektę oraz zapis, 2 minuty na dwie obserwacje z sali.</a:t>
            </a:r>
          </a:p>
          <a:p>
            <a:r>
              <a:rPr lang="pl-PL" sz="1200"/>
              <a:t>WARUNEK UKOŃCZENIA: Pięć pytań z trzema odpowiedziami, kluczem i wyjaśnieniem. Uczeń wskazuje jedną konkretną zmianę między wersjami promptu. Jeśli nie widzi błędu, może doprecyzować język albo format zamiast wymyślać usterkę.</a:t>
            </a:r>
          </a:p>
          <a:p>
            <a:r>
              <a:rPr lang="pl-PL" sz="1200"/>
              <a:t>POMOC: Początkujący korzystają z pełnego promptu. Osoby bez AI analizują przykładową odpowiedź w karcie pracy. Wszyscy zapisują swoją wersję polecenia.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55–60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Proces opisuje, co po kolei robi użytkownik i program. W naszym quizie: start, pytanie, wybór, informacja zwrotna, kolejne pytanie, wynik. Architektura mówi, z jakich części składa się rozwiązanie i jak współpracują. Tutaj mamy ekran, dane pytań i logikę sprawdzania odpowiedzi.</a:t>
            </a:r>
          </a:p>
          <a:p>
            <a:r>
              <a:rPr lang="pl-PL" sz="1200"/>
              <a:t>Wszystkie te części mogą na dzisiejszym warsztacie znaleźć się w jednym pliku HTML. Nie potrzebujemy serwera ani logowania. Nie oznacza to, że każdą aplikację powinno się tak budować.</a:t>
            </a:r>
          </a:p>
          <a:p>
            <a:r>
              <a:rPr lang="pl-PL" sz="1200"/>
              <a:t>PRZYKŁAD: Kliknięcie odpowiedzi uruchamia sprawdzenie klucza. Program aktualizuje wynik i pokazuje wyjaśnienie. Decyzja projektowa: jedno pytanie może zwiększyć wynik najwyżej o jeden punkt.</a:t>
            </a:r>
          </a:p>
          <a:p>
            <a:r>
              <a:rPr lang="pl-PL" sz="1200"/>
              <a:t>ZAPYTAJ: Co powinno się zdarzyć po restarcie? Wynik i numer pytania wracają do początku. To konkretne wymaganie, które później przetestujemy.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60–70 min (10 min). Rodzaj: ćwiczenie.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MATERIAŁ: karta-pracy.html, sekcja 3 i prompt P2.</a:t>
            </a:r>
          </a:p>
          <a:p>
            <a:r>
              <a:rPr lang="pl-PL" sz="1200"/>
              <a:t>PRZEBIEG: 3 minuty na własną propozycję, 4 minuty na pomoc AI oraz decyzje, 3 minuty na sprawdzenie listy z sąsiadem. Jeśli pracują w parze, zmieńcie osobę przy klawiaturze.</a:t>
            </a:r>
          </a:p>
          <a:p>
            <a:r>
              <a:rPr lang="pl-PL" sz="1200"/>
              <a:t>MINIMUM: Jedna odpowiedź na pytanie; maksymalnie jeden punkt; wyjaśnienie po odpowiedzi; wynik od 0 do 5; restart zeruje wynik. Uczniowie mogą wybrać 3–5 z tych wymagań, ale wspólny prompt budowy zachowuje wszystkie podstawowe reguły.</a:t>
            </a:r>
          </a:p>
          <a:p>
            <a:r>
              <a:rPr lang="pl-PL" sz="1200"/>
              <a:t>WYJAŚNIJ: „Ma być fajnie” jest oceną. „Restart ustawia wynik na 0 i pokazuje pierwsze pytanie” daje się sprawdzić. Nie wprowadzaj UML, mikroserwisów ani diagramów wdrożenia. Wystarczy prosta lista lub szkic.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70–80 min (10 min). Rodzaj: przerwa.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10 minut przerwy. Podaj rzeczywistą godzinę powrotu. Przed odejściem uczniowie zapisują prompt i plan. W tym czasie prowadzący mogą sprawdzić pojedyncze blokady techniczne, ale nie zamieniaj przerwy w kolejne obowiązkowe ćwiczenie.</a:t>
            </a:r>
          </a:p>
          <a:p>
            <a:r>
              <a:rPr lang="pl-PL" sz="1200"/>
              <a:t>Po przerwie zaczynamy budowę. Jeśli grupa ma opóźnienie, uprość projekt do trzech pytań albo podaj plik startowy. Zachowaj czas na sprawdzanie i bezpieczeństwo.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80–85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Vibe coding to tworzenie aplikacji głównie przez opisywanie efektu AI i kolejne poprawki, często bez szczegółowego czytania kodu. Dzisiaj użyjemy tego sposobu do prototypu. Nadal odpowiadamy za to, co uruchamiamy i jak oceniamy wynik.</a:t>
            </a:r>
          </a:p>
          <a:p>
            <a:r>
              <a:rPr lang="pl-PL" sz="1200"/>
              <a:t>POKAŻ: Prompt P3 z karty pracy, zatwierdzone pytania i plan. Wyraźnie poproś o jeden plik HTML z CSS oraz JavaScript, bez zewnętrznych bibliotek, logowania i połączeń sieciowych. Daje to prosty zakres ćwiczenia, ale sama instrukcja nie dowodzi, że wynik ją spełnia.</a:t>
            </a:r>
          </a:p>
          <a:p>
            <a:r>
              <a:rPr lang="pl-PL" sz="1200"/>
              <a:t>Nie obiecuj, że każda aplikacja z AI zadziała za pierwszym razem. W razie limitu lub zbyt długiego generowania przejdź do gotowego pliku quiz-start.html. Do pracy z wygenerowanym kodem używamy szkolnego środowiska zatwierdzonego przez prowadzących.</a:t>
            </a:r>
          </a:p>
          <a:p>
            <a:r>
              <a:rPr lang="pl-PL" sz="1200"/>
              <a:t>Źródło: IBM, Vibe coding, https://www.ibm.com/think/topics/vibe-coding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85–90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POKAŻ NA ŻYWO: Jeśli narzędzie daje gotowy plik HTML do pobrania, zapisz go w folderze warsztatu. Jeśli daje kod, skopiuj sam kod bez znaczników bloku do zwykłego edytora tekstu. Zapisz jako quiz.html w UTF-8. W Windows wybierz typ „Wszystkie pliki”, aby nie powstał quiz.html.txt. Na macOS edytor musi pracować w trybie zwykłego tekstu, nie RTF. Jeśli macie edytor kodu, użyjcie go.</a:t>
            </a:r>
          </a:p>
          <a:p>
            <a:r>
              <a:rPr lang="pl-PL" sz="1200"/>
              <a:t>Otwórz plik w przeglądarce. Kliknij odpowiedź i przejdź dalej. Zmień tytuł lub kolor przez polecenie dla AI, zapisz nową wersję i odśwież stronę. Nie instaluj niczego na komputerach uczniów w czasie pokazu.</a:t>
            </a:r>
          </a:p>
          <a:p>
            <a:r>
              <a:rPr lang="pl-PL" sz="1200"/>
              <a:t>Gdy przeglądarka pokazuje kod zamiast strony, sprawdź rozszerzenie pliku. Jeśli przyciski nie działają, zapisz kroki i poproś o pomoc. Nie trać całego bloku na konfigurację: po kilku minutach użyj pliku startowego.</a:t>
            </a:r>
          </a:p>
          <a:p>
            <a:r>
              <a:rPr lang="pl-PL" sz="1200"/>
              <a:t>Źródło: MDN, HTML: Creating the content, https://developer.mozilla.org/en-US/docs/Learn_web_development/Getting_started/Your_first_website/Creating_the_content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90–120 min (30 min). Rodzaj: ćwiczenie.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PRZEBIEG: 10 minut na generowanie i zapis, 15 minut na uruchomienie oraz własną zmianę, 5 minut na zapis efektu i pomoc osobom, które utknęły. Jedna osoba pomaga przy plikach, druga przy promptach. Przy pracy w parach zmiana operatora po około 10 minutach.</a:t>
            </a:r>
          </a:p>
          <a:p>
            <a:r>
              <a:rPr lang="pl-PL" sz="1200"/>
              <a:t>WARUNEK UKOŃCZENIA: Quiz otwiera się, można odpowiedzieć, widać wyjaśnienie i wynik. Uczeń potrafi wskazać jedną własną zmianę. Pełną poprawność sprawdzimy dopiero w kolejnym bloku.</a:t>
            </a:r>
          </a:p>
          <a:p>
            <a:r>
              <a:rPr lang="pl-PL" sz="1200"/>
              <a:t>WARIANT PODSTAWOWY: Zmień tytuł, kolor albo tekst wyjaśnienia w quiz-start.html z pomocą AI. Przy dużym opóźnieniu wystarczą trzy pytania. Osoby szybsze dodają najwyżej jedną funkcję. Nie dokładamy kont, backendu, generowania obrazów ani publikacji.</a:t>
            </a:r>
          </a:p>
          <a:p>
            <a:r>
              <a:rPr lang="pl-PL" sz="1200"/>
              <a:t>AWARIA AI: Uczniowie używają quiz-start.html i instrukcji w karcie pracy. Mogą samodzielnie zmienić tytuł lub kolor, a następnie przejść do testów.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120–125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Sprawdzamy dwa różne obszary. Po pierwsze treść: czy poprawna odpowiedź rzeczywiście wynika z notatki? Po drugie działanie: czy kliknięcie daje właściwy wynik i czy restart działa? Ładny ekran nie rozstrzyga żadnego z tych pytań.</a:t>
            </a:r>
          </a:p>
          <a:p>
            <a:r>
              <a:rPr lang="pl-PL" sz="1200"/>
              <a:t>POKAŻ: W przygotowanej wersji z błędami pytanie o CSS ma niepoprawny klucz. Porównaj je z notatką: CSS odpowiada za wygląd. To dowód oparty na źródle, a nie kolejne zapewnienie AI. Nie zdradzaj jeszcze pozostałych usterek.</a:t>
            </a:r>
          </a:p>
          <a:p>
            <a:r>
              <a:rPr lang="pl-PL" sz="1200"/>
              <a:t>Ważne fakty poza ćwiczeniem sprawdzamy w odpowiednich źródłach. Jeśli źródło samo jest niepewne, zgodność z nim nie dowodzi prawdy. Nasza notatka ma odnośniki do dokumentacji MDN.</a:t>
            </a:r>
          </a:p>
          <a:p>
            <a:r>
              <a:rPr lang="pl-PL" sz="1200"/>
              <a:t>Źródła: MDN HTML, CSS i JavaScript wymienione w notatce; GitHub, Responsible use of GitHub Copilot Chat, https://docs.github.com/en/copilot/responsible-use/chat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125–130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POWIEDZ: Human in the loop znaczy, że człowiek uczestniczy w procesie i podejmuje istotne decyzje. W naszym quizie wy ustalacie wymagania, sprawdzacie pytania, oceniacie testy i decydujecie, czy zaakceptować poprawkę. Możecie też zatrzymać pracę i poprosić o wyjaśnienie.</a:t>
            </a:r>
          </a:p>
          <a:p>
            <a:r>
              <a:rPr lang="pl-PL" sz="1200"/>
              <a:t>ZAPYTAJ: AI napisała „wszystko działa”, ale nie pokazuje testu. Czy to wystarczy? Nie. Potrzebujemy wyniku naszego sprawdzenia i zrozumienia, co zatwierdzamy.</a:t>
            </a:r>
          </a:p>
          <a:p>
            <a:r>
              <a:rPr lang="pl-PL" sz="1200"/>
              <a:t>POWIEDZ: Na warsztacie nie publikujemy aplikacji. Zapisujemy lokalny prototyp. Osobną decyzją byłoby udostępnienie go innym osobom po odpowiednim sprawdzeniu. Jeśli nie potraficie ocenić wyniku, nazwijcie tę niepewność zamiast ją ukrywać.</a:t>
            </a:r>
          </a:p>
          <a:p>
            <a:r>
              <a:rPr lang="pl-PL" sz="1200"/>
              <a:t>Poproś uczniów o przykład decyzji, którą w ich projekcie powinien podjąć człowiek.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130–135 min (5 min). Rodzaj: ćwiczenie.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MATERIAŁ: karta-pracy.html, sekcja 5.</a:t>
            </a:r>
          </a:p>
          <a:p>
            <a:r>
              <a:rPr lang="pl-PL" sz="1200"/>
              <a:t>PRZEBIEG: 2 minuty na wybrane pytanie i fragment notatki, 3 minuty na pomysły testów. Na tym etapie nie prosimy AI o listę. Chcemy, żeby każdy najpierw spróbował sam.</a:t>
            </a:r>
          </a:p>
          <a:p>
            <a:r>
              <a:rPr lang="pl-PL" sz="1200"/>
              <a:t>PRZYKŁADY: Zła odpowiedź nie zwiększa wyniku; drugi klik nie dodaje kolejnego punktu; restart pokazuje pierwsze pytanie z wynikiem 0. Uczniowie mogą wybrać inne testy, jeśli potrafią określić wynik oczekiwany.</a:t>
            </a:r>
          </a:p>
          <a:p>
            <a:r>
              <a:rPr lang="pl-PL" sz="1200"/>
              <a:t>Jeśli uczeń sprawdzi tylko napis „Poprawnie”, poproś o wskazanie zdania w źródle. W wariancie bez własnego quizu pracuje na przygotowanej wersji z błędami.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135–140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POKAŻ: Otwórz uczen/quiz-do-testow.html w świeżej karcie. W pierwszym pytaniu trzy razy wybierz HTML. Wynik rośnie do 3, chociaż odpowiedzieliśmy na jedno pytanie. To celowo przygotowana usterka.</a:t>
            </a:r>
          </a:p>
          <a:p>
            <a:r>
              <a:rPr lang="pl-PL" sz="1200"/>
              <a:t>POWIEDZ: Raport musi pozwolić innej osobie powtórzyć sytuację. „Quiz nie działa” nie wystarcza. Potrzebujemy kroków, wyniku oczekiwanego i rzeczywistego. Jeśli to możliwe, dodajemy zrzut albo dokładny komunikat.</a:t>
            </a:r>
          </a:p>
          <a:p>
            <a:r>
              <a:rPr lang="pl-PL" sz="1200"/>
              <a:t>Uczniowie mogą poprosić AI o dodatkowe testy. Sugestie trzeba porównać z wymaganiami i wykonać. Nie każda sugestia zmiany oznacza błąd. Brak losowania nie jest błędem, jeśli nikt go nie wymagał.</a:t>
            </a:r>
          </a:p>
          <a:p>
            <a:r>
              <a:rPr lang="pl-PL" sz="1200"/>
              <a:t>Po pokazie otwórz świeżą kartę, aby uczniowie zaczęli od czystego stanu.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140–155 min (15 min). Rodzaj: ćwiczenie.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MATERIAŁ: karta-testow.tsv lub tabela w karcie pracy, własny quiz i zapasowy quiz-do-testow.html. Prompt P4 służy do proponowania testów, nie do deklarowania znalezionych błędów.</a:t>
            </a:r>
          </a:p>
          <a:p>
            <a:r>
              <a:rPr lang="pl-PL" sz="1200"/>
              <a:t>PRZEBIEG: 7 minut na trzy testy, 3 minuty na dodatkowy pomysł AI, 5 minut na odtworzenie i opis usterki. Testy można wykonać na quizie sąsiada. Przy braku potwierdzonego błędu przejdź do przygotowanej wersji z usterkami.</a:t>
            </a:r>
          </a:p>
          <a:p>
            <a:r>
              <a:rPr lang="pl-PL" sz="1200"/>
              <a:t>KONIECZNE POLA: kroki, wynik oczekiwany, rzeczywisty, status. „Nie sprawdzono” jest uczciwym statusem. Nie punktuj liczby wykrytych błędów.</a:t>
            </a:r>
          </a:p>
          <a:p>
            <a:r>
              <a:rPr lang="pl-PL" sz="1200"/>
              <a:t>KLUCZ DLA PROWADZĄCYCH: W wersji treningowej są trzy celowe usterki: wielokrotne naliczanie punktu, niepoprawny klucz pytania o CSS, brak zerowania wyniku po restarcie. Szczegóły i sposób odizolowania usterek znajdują się w przewodniku.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155–160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POKAŻ: Prompt P5 z opisem wielokrotnego naliczania punktów. Dołącz kod przygotowanego pliku. Poproś o poprawienie tego problemu bez dodawania nowych funkcji, o pełny plik i krótkie wyjaśnienie zmiany.</a:t>
            </a:r>
          </a:p>
          <a:p>
            <a:r>
              <a:rPr lang="pl-PL" sz="1200"/>
              <a:t>POWIEDZ: Najpierw odtwórzmy błąd. Potem zapiszmy nową wersję jako quiz-v2.html. W nowej wersji trzy kliknięcia tej samej odpowiedzi mają dać jeden punkt. Sprawdźmy również przejście do kolejnego pytania. To przykład sprawdzenia, czy poprawka nie popsuła wcześniej działającej funkcji.</a:t>
            </a:r>
          </a:p>
          <a:p>
            <a:r>
              <a:rPr lang="pl-PL" sz="1200"/>
              <a:t>Jeżeli wygenerowanie trwa zbyt długo, pokaż wcześniej przygotowany quiz-demo.html. Nazwij go wzorcem przygotowanym do pokazu, a nie wynikiem właśnie wykonanej naprawy. Nie ma obowiązku naprawić wszystkich trzech celowych usterek w tym bloku.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160–170 min (10 min). Rodzaj: ćwiczenie.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PRZEBIEG: 2 minuty na prompt, 4 minuty na zapis i uruchomienie, 4 minuty na dwa testy oraz zapis wyników. Uczeń nie musi czytać całego kodu, ale musi rozumieć oczekiwane zachowanie.</a:t>
            </a:r>
          </a:p>
          <a:p>
            <a:r>
              <a:rPr lang="pl-PL" sz="1200"/>
              <a:t>WARUNEK UKOŃCZENIA: Widać wynik przed i po zmianie oraz rezultat jednego wcześniejszego testu. Jeśli AI nie naprawi błędu, odnotowanie niepowodzenia i wskazanie kolejnego kroku jest poprawnym wynikiem ćwiczenia.</a:t>
            </a:r>
          </a:p>
          <a:p>
            <a:r>
              <a:rPr lang="pl-PL" sz="1200"/>
              <a:t>WARIANT BEZ AI: Uczeń porównuje zachowanie wersji treningowej z poprawnym quizem udostępnionym przez prowadzącego i wykonuje te same testy. Wyjaśnij, że jest to ćwiczenie weryfikacji gotowej poprawki, nie samodzielne wygenerowanie naprawy.</a:t>
            </a:r>
          </a:p>
          <a:p>
            <a:r>
              <a:rPr lang="pl-PL" sz="1200"/>
              <a:t>Nie przedłużaj tego bloku kosztem zapisania plików. Zostaw otwarte problemy opisane w karcie testów.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170–180 min (10 min). Rodzaj: podsumowanie.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PRZEBIEG: Około 3 minuty na zapis plików, 4 minuty na pytania i krótkie wypowiedzi, 3 minuty rezerwy. Jeśli wcześniejsze ćwiczenia się przedłużyły, skróć wypowiedzi, ale dopilnuj zapisania pracy.</a:t>
            </a:r>
          </a:p>
          <a:p>
            <a:r>
              <a:rPr lang="pl-PL" sz="1200"/>
              <a:t>ZAPYTAJ: Co udało Ci się stworzyć? Jaką decyzję podjąłeś sam? Jak sprawdziłeś wynik? Czego jeszcze nie potwierdziłeś? Wystarczą 2–3 głosy z sali; pozostali zapisują po jednym zdaniu w karcie pracy.</a:t>
            </a:r>
          </a:p>
          <a:p>
            <a:r>
              <a:rPr lang="pl-PL" sz="1200"/>
              <a:t>POWIEDZ: Możecie dalej rozwijać projekt, ale do każdej nowej funkcji dopiszcie sposób sprawdzenia. Zachowajcie prompt, plik HTML i wyniki testów. Dzisiejszy rezultat jest prototypem po wykonanych przez Was sprawdzeniach, a nie deklaracją pełnego bezpieczeństwa.</a:t>
            </a:r>
          </a:p>
          <a:p>
            <a:r>
              <a:rPr lang="pl-PL" sz="1200"/>
              <a:t>Nie dodawaj kolejnego zadania ani obowiązkowej prezentacji każdego projektu. Zakończ o czasie.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konrad-bugi-ai.png"/><Relationship Id="rId4" Type="http://schemas.openxmlformats.org/officeDocument/2006/relationships/image" Target="../media/grzegorz-procesy-architektura-ai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6299042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0" spc="-66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IT wspierane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7987" y="1478260"/>
            <a:ext cx="629904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87" y="2422723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Bezpieczne korzystanie z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3499048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Dobry prompt i plan aplikacji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87" y="4575373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Własny quiz z pomocą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87" y="5651798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Testy, poprawki i decyzje człowieka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987" y="3114576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8"/>
          <p:cNvSpPr/>
          <p:nvPr/>
        </p:nvSpPr>
        <p:spPr>
          <a:xfrm>
            <a:off x="507987" y="4190901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2" name="Shape 9"/>
          <p:cNvSpPr/>
          <p:nvPr/>
        </p:nvSpPr>
        <p:spPr>
          <a:xfrm>
            <a:off x="507987" y="5267226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Prowadzący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412180"/>
            <a:ext cx="523226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Konrad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87" y="1978521"/>
            <a:ext cx="523226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Senior Test Development Engineer</a:t>
            </a:r>
            <a:endParaRPr lang="en-US" sz="1600" dirty="0"/>
          </a:p>
          <a:p>
            <a:pPr algn="l">
              <a:lnSpc>
                <a:spcPct val="117000"/>
              </a:lnSpc>
              <a:buSzPct val="100000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51439" y="1412180"/>
            <a:ext cx="523226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Grzegorz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51439" y="1978521"/>
            <a:ext cx="523226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Architect, AI </a:t>
            </a:r>
            <a:r>
              <a:rPr lang="en-US" sz="1600" dirty="0" err="1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Ambasador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6323" y="1158180"/>
            <a:ext cx="19050" cy="5191820"/>
          </a:xfrm>
          <a:prstGeom prst="rect">
            <a:avLst/>
          </a:prstGeom>
          <a:solidFill>
            <a:srgbClr val="0F8FA3"/>
          </a:solidFill>
          <a:ln/>
        </p:spPr>
      </p:sp>
      <p:pic>
        <p:nvPicPr>
          <p:cNvPr id="9" name="Konrad — szukanie bugów z AI" descr="Ilustracja AI: laptop, lupa z błędem i robot wspierający testowanie.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07997" y="2657475"/>
            <a:ext cx="5219700" cy="3479800"/>
          </a:xfrm>
          <a:prstGeom prst="rect">
            <a:avLst/>
          </a:prstGeom>
        </p:spPr>
      </p:pic>
      <p:pic>
        <p:nvPicPr>
          <p:cNvPr id="10" name="Grzegorz — procesy i architektura z AI" descr="Ilustracja AI: schemat procesu, aplikacja, serwer, baza danych i robot wspierający projektowanie.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51435" y="2657475"/>
            <a:ext cx="5219700" cy="3479800"/>
          </a:xfrm>
          <a:prstGeom prst="rect">
            <a:avLst/>
          </a:prstGeom>
        </p:spPr>
      </p:pic>
      <p:sp>
        <p:nvSpPr>
          <p:cNvPr id="11" name="Szukanie bugów z AI"/>
          <p:cNvSpPr txBox="1"/>
          <p:nvPr/>
        </p:nvSpPr>
        <p:spPr>
          <a:xfrm>
            <a:off x="507997" y="6286500"/>
            <a:ext cx="5219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pl-PL" sz="1800" b="1">
                <a:solidFill>
                  <a:srgbClr val="0F8FA3"/>
                </a:solidFill>
                <a:latin typeface="Noto Sans Bold"/>
              </a:rPr>
              <a:t>Szukanie bugów z AI</a:t>
            </a:r>
            <a:endParaRPr lang="pl-PL" sz="1800"/>
          </a:p>
        </p:txBody>
      </p:sp>
      <p:sp>
        <p:nvSpPr>
          <p:cNvPr id="12" name="Procesy i architektura z AI"/>
          <p:cNvSpPr txBox="1"/>
          <p:nvPr/>
        </p:nvSpPr>
        <p:spPr>
          <a:xfrm>
            <a:off x="6451435" y="6286500"/>
            <a:ext cx="5219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pl-PL" sz="1800" b="1">
                <a:solidFill>
                  <a:srgbClr val="0F8FA3"/>
                </a:solidFill>
                <a:latin typeface="Noto Sans Bold"/>
              </a:rPr>
              <a:t>Procesy i architektura z AI</a:t>
            </a:r>
            <a:endParaRPr lang="pl-P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 czego AI przydaje się w IT?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898" y="2255441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5480" y="2367260"/>
            <a:ext cx="390822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Pomaga pisać i wyjaśniać kod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898" y="3119041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5480" y="3230860"/>
            <a:ext cx="390822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Proponuje testy i szuka błędów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898" y="3982641"/>
            <a:ext cx="406390" cy="406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5480" y="4094460"/>
            <a:ext cx="390822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Tworzy prototypy stron i aplikacji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898" y="4846241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5480" y="4958060"/>
            <a:ext cx="390822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Wspiera naukę nowych technologii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7038898" y="2884091"/>
            <a:ext cx="4644810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3" name="Shape 7"/>
          <p:cNvSpPr/>
          <p:nvPr/>
        </p:nvSpPr>
        <p:spPr>
          <a:xfrm>
            <a:off x="7038898" y="3747691"/>
            <a:ext cx="4644810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4" name="Shape 8"/>
          <p:cNvSpPr/>
          <p:nvPr/>
        </p:nvSpPr>
        <p:spPr>
          <a:xfrm>
            <a:off x="7038898" y="4611291"/>
            <a:ext cx="4644810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5" name="Shape 9"/>
          <p:cNvSpPr/>
          <p:nvPr/>
        </p:nvSpPr>
        <p:spPr>
          <a:xfrm>
            <a:off x="507987" y="1602879"/>
            <a:ext cx="6073821" cy="43023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35689" y="1817985"/>
            <a:ext cx="88501" cy="88503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7" name="Shape 11"/>
          <p:cNvSpPr/>
          <p:nvPr/>
        </p:nvSpPr>
        <p:spPr>
          <a:xfrm>
            <a:off x="912889" y="1817985"/>
            <a:ext cx="88501" cy="88503"/>
          </a:xfrm>
          <a:prstGeom prst="ellipse">
            <a:avLst/>
          </a:prstGeom>
          <a:solidFill>
            <a:srgbClr val="CDD7D7"/>
          </a:solidFill>
          <a:ln/>
        </p:spPr>
      </p:sp>
      <p:sp>
        <p:nvSpPr>
          <p:cNvPr id="18" name="Shape 12"/>
          <p:cNvSpPr/>
          <p:nvPr/>
        </p:nvSpPr>
        <p:spPr>
          <a:xfrm>
            <a:off x="1089990" y="1817985"/>
            <a:ext cx="88501" cy="88503"/>
          </a:xfrm>
          <a:prstGeom prst="ellipse">
            <a:avLst/>
          </a:prstGeom>
          <a:solidFill>
            <a:srgbClr val="CDD7D7"/>
          </a:solidFill>
          <a:ln/>
        </p:spPr>
      </p:sp>
      <p:sp>
        <p:nvSpPr>
          <p:cNvPr id="19" name="Shape 13"/>
          <p:cNvSpPr/>
          <p:nvPr/>
        </p:nvSpPr>
        <p:spPr>
          <a:xfrm>
            <a:off x="862289" y="2425303"/>
            <a:ext cx="3796114" cy="151805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20" name="Shape 14"/>
          <p:cNvSpPr/>
          <p:nvPr/>
        </p:nvSpPr>
        <p:spPr>
          <a:xfrm>
            <a:off x="862289" y="2716411"/>
            <a:ext cx="2733210" cy="101203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1" name="Shape 15"/>
          <p:cNvSpPr/>
          <p:nvPr/>
        </p:nvSpPr>
        <p:spPr>
          <a:xfrm>
            <a:off x="862289" y="3134023"/>
            <a:ext cx="5365120" cy="531416"/>
          </a:xfrm>
          <a:prstGeom prst="roundRect">
            <a:avLst/>
          </a:prstGeom>
          <a:solidFill>
            <a:srgbClr val="DDF4F7"/>
          </a:solidFill>
          <a:ln w="19050">
            <a:solidFill>
              <a:srgbClr val="0F8FA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52089" y="3311128"/>
            <a:ext cx="177101" cy="177105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23" name="Shape 17"/>
          <p:cNvSpPr/>
          <p:nvPr/>
        </p:nvSpPr>
        <p:spPr>
          <a:xfrm>
            <a:off x="1418991" y="3361730"/>
            <a:ext cx="3391212" cy="75902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24" name="Shape 18"/>
          <p:cNvSpPr/>
          <p:nvPr/>
        </p:nvSpPr>
        <p:spPr>
          <a:xfrm>
            <a:off x="862289" y="3817342"/>
            <a:ext cx="5365120" cy="531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2089" y="3994448"/>
            <a:ext cx="177101" cy="1771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418991" y="4045049"/>
            <a:ext cx="2733210" cy="75902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7" name="Shape 21"/>
          <p:cNvSpPr/>
          <p:nvPr/>
        </p:nvSpPr>
        <p:spPr>
          <a:xfrm>
            <a:off x="862289" y="4500662"/>
            <a:ext cx="5365120" cy="531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52089" y="4677767"/>
            <a:ext cx="177101" cy="1771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418991" y="4728369"/>
            <a:ext cx="3087511" cy="75902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07802" y="5285184"/>
            <a:ext cx="1619606" cy="328910"/>
          </a:xfrm>
          <a:prstGeom prst="roundRect">
            <a:avLst/>
          </a:prstGeom>
          <a:solidFill>
            <a:srgbClr val="0F8FA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Nasz projekt: quiz do nauki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Jeden plik. Pięć pytań. Własne testy.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Pytania na podstawie krótkiej notatki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Wyjaśnienie po wyborze odpowiedzi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Wynik 0–5 i przycisk restartu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Bez logowania i danych osobowych</a:t>
            </a:r>
            <a:endParaRPr lang="pl-PL" sz="20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Bezpieczne korzystanie z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2428280"/>
            <a:ext cx="500198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Nie wklejaj haseł ani prywatnych danych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87" y="3205460"/>
            <a:ext cx="500198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ćwiczeń używaj fikcyjnych danych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3982641"/>
            <a:ext cx="500198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Sprawdzaj ustawienia prywatności narzędzia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87" y="4759821"/>
            <a:ext cx="500198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Przyznawaj tylko potrzebne uprawnienia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987" y="2970510"/>
            <a:ext cx="5001988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9" name="Shape 7"/>
          <p:cNvSpPr/>
          <p:nvPr/>
        </p:nvSpPr>
        <p:spPr>
          <a:xfrm>
            <a:off x="507987" y="3747691"/>
            <a:ext cx="5001988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0" name="Shape 8"/>
          <p:cNvSpPr/>
          <p:nvPr/>
        </p:nvSpPr>
        <p:spPr>
          <a:xfrm>
            <a:off x="507987" y="4524871"/>
            <a:ext cx="5001988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9"/>
          <p:cNvSpPr/>
          <p:nvPr/>
        </p:nvSpPr>
        <p:spPr>
          <a:xfrm>
            <a:off x="6094062" y="1772245"/>
            <a:ext cx="2235839" cy="374759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0854" y="2127945"/>
            <a:ext cx="1270365" cy="1143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854" y="2534444"/>
            <a:ext cx="1676854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0854" y="2788543"/>
            <a:ext cx="1359263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0854" y="3207841"/>
            <a:ext cx="1575157" cy="241300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0854" y="3652441"/>
            <a:ext cx="1206767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0854" y="4020840"/>
            <a:ext cx="1410062" cy="241300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0854" y="4452838"/>
            <a:ext cx="1638755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0854" y="4833938"/>
            <a:ext cx="1498959" cy="241300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482296" y="3538141"/>
            <a:ext cx="533486" cy="304800"/>
          </a:xfrm>
          <a:prstGeom prst="rightArrow">
            <a:avLst/>
          </a:prstGeom>
          <a:solidFill>
            <a:srgbClr val="0F8FA3"/>
          </a:solidFill>
          <a:ln/>
        </p:spPr>
      </p:sp>
      <p:sp>
        <p:nvSpPr>
          <p:cNvPr id="21" name="Shape 19"/>
          <p:cNvSpPr/>
          <p:nvPr/>
        </p:nvSpPr>
        <p:spPr>
          <a:xfrm>
            <a:off x="9168377" y="1772245"/>
            <a:ext cx="2388235" cy="374759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8F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47770" y="2127945"/>
            <a:ext cx="1270365" cy="1143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3" name="Shape 21"/>
          <p:cNvSpPr/>
          <p:nvPr/>
        </p:nvSpPr>
        <p:spPr>
          <a:xfrm>
            <a:off x="9447770" y="2534444"/>
            <a:ext cx="1778452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4" name="Shape 22"/>
          <p:cNvSpPr/>
          <p:nvPr/>
        </p:nvSpPr>
        <p:spPr>
          <a:xfrm>
            <a:off x="9447770" y="2788543"/>
            <a:ext cx="1359263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5" name="Shape 23"/>
          <p:cNvSpPr/>
          <p:nvPr/>
        </p:nvSpPr>
        <p:spPr>
          <a:xfrm>
            <a:off x="9447770" y="3156942"/>
            <a:ext cx="1829250" cy="342999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8364" y="3296741"/>
            <a:ext cx="1168668" cy="63500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27" name="Shape 25"/>
          <p:cNvSpPr/>
          <p:nvPr/>
        </p:nvSpPr>
        <p:spPr>
          <a:xfrm>
            <a:off x="9447770" y="3652441"/>
            <a:ext cx="1206767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8" name="Shape 26"/>
          <p:cNvSpPr/>
          <p:nvPr/>
        </p:nvSpPr>
        <p:spPr>
          <a:xfrm>
            <a:off x="9447770" y="3970040"/>
            <a:ext cx="1829250" cy="342999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8364" y="4109740"/>
            <a:ext cx="914576" cy="63500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30" name="Shape 28"/>
          <p:cNvSpPr/>
          <p:nvPr/>
        </p:nvSpPr>
        <p:spPr>
          <a:xfrm>
            <a:off x="9447770" y="4452838"/>
            <a:ext cx="1638755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31" name="Shape 29"/>
          <p:cNvSpPr/>
          <p:nvPr/>
        </p:nvSpPr>
        <p:spPr>
          <a:xfrm>
            <a:off x="9447770" y="4783137"/>
            <a:ext cx="1829250" cy="342999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38364" y="4922837"/>
            <a:ext cx="1321164" cy="63500"/>
          </a:xfrm>
          <a:prstGeom prst="roundRect">
            <a:avLst/>
          </a:prstGeom>
          <a:solidFill>
            <a:srgbClr val="0F8FA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Zagrożenia i oszustwa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24442" y="2428280"/>
            <a:ext cx="535926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Deepfake: podrobiony głos lub film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24442" y="3205460"/>
            <a:ext cx="535926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Phishing: wiadomości wyłudzające dane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24442" y="3982641"/>
            <a:ext cx="535926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Fałszywe aplikacje i podejrzane linki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2" y="4531221"/>
            <a:ext cx="5359266" cy="777180"/>
          </a:xfrm>
          <a:custGeom>
            <a:avLst/>
            <a:gdLst/>
            <a:ahLst/>
            <a:cxnLst/>
            <a:rect l="l" t="t" r="r" b="b"/>
            <a:pathLst>
              <a:path w="5359266" h="777180">
                <a:moveTo>
                  <a:pt x="0" y="0"/>
                </a:moveTo>
                <a:lnTo>
                  <a:pt x="5359266" y="0"/>
                </a:lnTo>
                <a:lnTo>
                  <a:pt x="5359266" y="706060"/>
                </a:lnTo>
                <a:arcTo wR="71118" hR="71120" stAng="0" swAng="5400000"/>
                <a:lnTo>
                  <a:pt x="71118" y="777180"/>
                </a:lnTo>
                <a:arcTo wR="71118" hR="71120" stAng="5400000" swAng="5400000"/>
                <a:lnTo>
                  <a:pt x="0" y="0"/>
                </a:lnTo>
                <a:close/>
              </a:path>
            </a:pathLst>
          </a:custGeom>
          <a:solidFill>
            <a:srgbClr val="DDF4F7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4759821"/>
            <a:ext cx="513067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Pilne prośby potwierdzaj innym kanałem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24442" y="2970510"/>
            <a:ext cx="5359266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0" name="Shape 8"/>
          <p:cNvSpPr/>
          <p:nvPr/>
        </p:nvSpPr>
        <p:spPr>
          <a:xfrm>
            <a:off x="6324442" y="3747691"/>
            <a:ext cx="5359266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9"/>
          <p:cNvSpPr/>
          <p:nvPr/>
        </p:nvSpPr>
        <p:spPr>
          <a:xfrm>
            <a:off x="6324442" y="4524871"/>
            <a:ext cx="5359266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078" y="1559322"/>
            <a:ext cx="4874198" cy="43894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9061" y="1814513"/>
            <a:ext cx="153091" cy="153095"/>
          </a:xfrm>
          <a:prstGeom prst="ellipse">
            <a:avLst/>
          </a:prstGeom>
          <a:solidFill>
            <a:srgbClr val="CDD7D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3540" y="1852712"/>
            <a:ext cx="1543904" cy="76498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606" y="2529086"/>
            <a:ext cx="1036016" cy="376535"/>
          </a:xfrm>
          <a:prstGeom prst="roundRect">
            <a:avLst>
              <a:gd name="adj" fmla="val 20495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319" y="2597944"/>
            <a:ext cx="1370177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kern="0" spc="14" dirty="0">
                <a:solidFill>
                  <a:srgbClr val="1F293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Przykład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7259" y="3154263"/>
            <a:ext cx="4236237" cy="1735336"/>
          </a:xfrm>
          <a:prstGeom prst="roundRect">
            <a:avLst>
              <a:gd name="adj" fmla="val 10538"/>
            </a:avLst>
          </a:prstGeom>
          <a:solidFill>
            <a:srgbClr val="DD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1246652" y="3433663"/>
            <a:ext cx="3677451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Potrzebuję pilnie kodu BLIK</a:t>
            </a:r>
            <a:endParaRPr lang="en-US" sz="2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03" y="5303838"/>
            <a:ext cx="229586" cy="229592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481" y="5303838"/>
            <a:ext cx="229586" cy="229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1: bezpieczna decyzja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10 minut pracy / 20–30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Przeczytaj trzy sytuacje w karcie pracy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Wskaż ryzyko i podejmij decyzję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Zapisz bezpieczny następny krok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trzy decyzje z krótkim uzasadnieniem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Dla chętnych: przepisz ryzykowny prompt bez prywatnych danych.</a:t>
            </a:r>
            <a:endParaRPr lang="pl-PL" sz="157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Jak opisać zadanie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158180"/>
            <a:ext cx="3521979" cy="25400"/>
          </a:xfrm>
          <a:prstGeom prst="rect">
            <a:avLst/>
          </a:prstGeom>
          <a:solidFill>
            <a:srgbClr val="0F8FA3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361380"/>
            <a:ext cx="352197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Cel: co ma powstać?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34759" y="1158180"/>
            <a:ext cx="3522078" cy="25400"/>
          </a:xfrm>
          <a:prstGeom prst="rect">
            <a:avLst/>
          </a:prstGeom>
          <a:solidFill>
            <a:srgbClr val="0F8FA3"/>
          </a:solidFill>
          <a:ln/>
        </p:spPr>
      </p:sp>
      <p:sp>
        <p:nvSpPr>
          <p:cNvPr id="7" name="Text 5"/>
          <p:cNvSpPr/>
          <p:nvPr/>
        </p:nvSpPr>
        <p:spPr>
          <a:xfrm>
            <a:off x="4334759" y="1361380"/>
            <a:ext cx="35220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Kontekst: odbiorca i źródło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61629" y="1158180"/>
            <a:ext cx="3522078" cy="25400"/>
          </a:xfrm>
          <a:prstGeom prst="rect">
            <a:avLst/>
          </a:prstGeom>
          <a:solidFill>
            <a:srgbClr val="0F8FA3"/>
          </a:solidFill>
          <a:ln/>
        </p:spPr>
      </p:sp>
      <p:sp>
        <p:nvSpPr>
          <p:cNvPr id="9" name="Text 7"/>
          <p:cNvSpPr/>
          <p:nvPr/>
        </p:nvSpPr>
        <p:spPr>
          <a:xfrm>
            <a:off x="8161629" y="1361380"/>
            <a:ext cx="35220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Wymagania i format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987" y="3226495"/>
            <a:ext cx="7145655" cy="1940322"/>
          </a:xfrm>
          <a:prstGeom prst="rect">
            <a:avLst/>
          </a:prstGeom>
          <a:solidFill>
            <a:srgbClr val="DDF4F7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556695"/>
            <a:ext cx="648527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„Stwórz quiz z moich notatek: 5 pytań, jedna poprawna odpowiedź, wyjaśnienie po wyborze. Bez logowania”.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10831" y="2410222"/>
            <a:ext cx="3572778" cy="35728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2459" y="2568972"/>
            <a:ext cx="79373" cy="79375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1931" y="3071812"/>
            <a:ext cx="2381885" cy="119063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1931" y="3323233"/>
            <a:ext cx="1746702" cy="7937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1931" y="3680520"/>
            <a:ext cx="2990577" cy="449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0677" y="3826073"/>
            <a:ext cx="158746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5073" y="3865761"/>
            <a:ext cx="1720212" cy="7937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1931" y="4289227"/>
            <a:ext cx="2990577" cy="449858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60677" y="4434780"/>
            <a:ext cx="158746" cy="15875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5073" y="4474567"/>
            <a:ext cx="1984821" cy="79375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1931" y="4897934"/>
            <a:ext cx="2990577" cy="449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60677" y="5043587"/>
            <a:ext cx="158746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5073" y="5083274"/>
            <a:ext cx="1534975" cy="7937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07380" y="5546427"/>
            <a:ext cx="1085029" cy="211634"/>
          </a:xfrm>
          <a:prstGeom prst="roundRect">
            <a:avLst/>
          </a:prstGeom>
          <a:solidFill>
            <a:srgbClr val="0F8FA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Doprecyzowanie odpowiedzi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Pierwszą odpowiedź można poprawić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Porównaj wynik ze swoim poleceniem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Wskaż konkretny brak lub błąd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Poproś o zmianę i sprawdź nową wersję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„Pytanie 4 wykracza poza notatkę. Zastąp je pytaniem ze źródła”.</a:t>
            </a:r>
            <a:endParaRPr lang="pl-PL" sz="202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2: własny prompt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15 minut pracy / 40–55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Użyj notatki i szkieletu promptu P1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Sprawdź pytania oraz odpowiedzi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Doprecyzuj polecenie i zapisz obie wersje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pięć pytań, klucz i jedna świadoma poprawka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Dla chętnych: określ poziom trudności i sposób wyjaśniania.</a:t>
            </a:r>
            <a:endParaRPr lang="pl-PL" sz="157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Proces i części aplikacji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19225"/>
            <a:ext cx="4762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PROCES: KOLEJNOŚĆ DZIAŁAŃ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171700"/>
            <a:ext cx="4762500" cy="271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Start</a:t>
            </a:r>
            <a:endParaRPr lang="pl-PL" sz="2325"/>
          </a:p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Pytanie i wybór odpowiedzi</a:t>
            </a:r>
            <a:endParaRPr lang="pl-PL" sz="2325"/>
          </a:p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Wyjaśnienie</a:t>
            </a:r>
            <a:endParaRPr lang="pl-PL" sz="2325"/>
          </a:p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Wynik i restart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6572250" y="1419225"/>
            <a:ext cx="511492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ARCHITEKTURA: CZĘŚCI QUIZU</a:t>
            </a:r>
            <a:endParaRPr lang="pl-PL" sz="1725"/>
          </a:p>
        </p:txBody>
      </p:sp>
      <p:sp>
        <p:nvSpPr>
          <p:cNvPr id="6" name="Text 7"/>
          <p:cNvSpPr txBox="1"/>
          <p:nvPr/>
        </p:nvSpPr>
        <p:spPr>
          <a:xfrm>
            <a:off x="6572250" y="2171700"/>
            <a:ext cx="5114925" cy="271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Ekran z przyciskami</a:t>
            </a:r>
            <a:endParaRPr lang="pl-PL" sz="2325"/>
          </a:p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Pytania i poprawne odpowiedzi</a:t>
            </a:r>
            <a:endParaRPr lang="pl-PL" sz="2325"/>
          </a:p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Reguły punktacji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1">
                <a:solidFill>
                  <a:srgbClr val="0F8FA3"/>
                </a:solidFill>
                <a:latin typeface="Noto Sans Bold"/>
              </a:rPr>
              <a:t>Jedno pytanie może dać najwyżej jeden punkt</a:t>
            </a:r>
            <a:endParaRPr lang="pl-PL" sz="2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3: plan quizu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10 minut pracy / 60–70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Zapisz przebieg quizu w kilku krokach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Ustal 3–5 sprawdzalnych wymagań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Poproś AI o uwagi i zatwierdź swój plan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plan działania i lista wymagań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Dla chętnych: co aplikacja zrobi, gdy zabraknie pytań?</a:t>
            </a:r>
            <a:endParaRPr lang="pl-PL" sz="157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Przerwa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962150"/>
            <a:ext cx="11182350" cy="1581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7800" b="1">
                <a:solidFill>
                  <a:srgbClr val="0F8FA3"/>
                </a:solidFill>
                <a:latin typeface="Noto Sans Bold"/>
              </a:rPr>
              <a:t>10 minut</a:t>
            </a:r>
            <a:endParaRPr lang="pl-PL" sz="7800"/>
          </a:p>
        </p:txBody>
      </p:sp>
      <p:sp>
        <p:nvSpPr>
          <p:cNvPr id="4" name="Text 5"/>
          <p:cNvSpPr txBox="1"/>
          <p:nvPr/>
        </p:nvSpPr>
        <p:spPr>
          <a:xfrm>
            <a:off x="504825" y="3990975"/>
            <a:ext cx="10477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700" b="0">
                <a:solidFill>
                  <a:srgbClr val="1F2933"/>
                </a:solidFill>
                <a:latin typeface="Noto Sans"/>
              </a:rPr>
              <a:t>Zapisz prompt i plan quizu</a:t>
            </a:r>
            <a:endParaRPr lang="pl-PL" sz="2700"/>
          </a:p>
        </p:txBody>
      </p:sp>
      <p:sp>
        <p:nvSpPr>
          <p:cNvPr id="5" name="Text 6"/>
          <p:cNvSpPr txBox="1"/>
          <p:nvPr/>
        </p:nvSpPr>
        <p:spPr>
          <a:xfrm>
            <a:off x="504825" y="5143500"/>
            <a:ext cx="10477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0">
                <a:solidFill>
                  <a:srgbClr val="1F2933"/>
                </a:solidFill>
                <a:latin typeface="Noto Sans"/>
              </a:rPr>
              <a:t>Po przerwie budujemy aplikację</a:t>
            </a:r>
            <a:endParaRPr lang="pl-PL" sz="2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Vibe coding: aplikacja z opisu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2345035"/>
            <a:ext cx="279393" cy="2794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5" name="Text 3"/>
          <p:cNvSpPr/>
          <p:nvPr/>
        </p:nvSpPr>
        <p:spPr>
          <a:xfrm>
            <a:off x="607700" y="2414885"/>
            <a:ext cx="68955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9776" y="2300585"/>
            <a:ext cx="38556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Opisujesz pomysł zwykłym językiem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987" y="3100685"/>
            <a:ext cx="279393" cy="2794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8" name="Text 6"/>
          <p:cNvSpPr/>
          <p:nvPr/>
        </p:nvSpPr>
        <p:spPr>
          <a:xfrm>
            <a:off x="607700" y="3170535"/>
            <a:ext cx="68955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9776" y="3056235"/>
            <a:ext cx="38556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generuje kod aplikacji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987" y="3856335"/>
            <a:ext cx="279393" cy="2794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1" name="Text 9"/>
          <p:cNvSpPr/>
          <p:nvPr/>
        </p:nvSpPr>
        <p:spPr>
          <a:xfrm>
            <a:off x="607700" y="3926185"/>
            <a:ext cx="68955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9776" y="3811885"/>
            <a:ext cx="38556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Oglądasz efekt i prosisz o zmiany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7987" y="4611985"/>
            <a:ext cx="279393" cy="2794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4" name="Text 12"/>
          <p:cNvSpPr/>
          <p:nvPr/>
        </p:nvSpPr>
        <p:spPr>
          <a:xfrm>
            <a:off x="607700" y="4681835"/>
            <a:ext cx="68955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9776" y="4567535"/>
            <a:ext cx="385564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Przed udostępnieniem potrzebujesz weryfikacji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7987" y="2833985"/>
            <a:ext cx="4287433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987" y="3589635"/>
            <a:ext cx="4287433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987" y="4345285"/>
            <a:ext cx="4287433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5252509" y="2127250"/>
            <a:ext cx="2294971" cy="315257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9024" y="2782987"/>
            <a:ext cx="1614050" cy="605234"/>
          </a:xfrm>
          <a:prstGeom prst="roundRect">
            <a:avLst/>
          </a:prstGeom>
          <a:solidFill>
            <a:srgbClr val="DD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920830" y="2959497"/>
            <a:ext cx="1185337" cy="75605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22" name="Shape 20"/>
          <p:cNvSpPr/>
          <p:nvPr/>
        </p:nvSpPr>
        <p:spPr>
          <a:xfrm>
            <a:off x="5920830" y="3136106"/>
            <a:ext cx="832226" cy="75605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23" name="Shape 21"/>
          <p:cNvSpPr/>
          <p:nvPr/>
        </p:nvSpPr>
        <p:spPr>
          <a:xfrm>
            <a:off x="5454216" y="3577431"/>
            <a:ext cx="1689752" cy="6052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0722" y="3754041"/>
            <a:ext cx="1286140" cy="7560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5" name="Shape 23"/>
          <p:cNvSpPr/>
          <p:nvPr/>
        </p:nvSpPr>
        <p:spPr>
          <a:xfrm>
            <a:off x="5630722" y="3930551"/>
            <a:ext cx="1008732" cy="7560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9024" y="4384477"/>
            <a:ext cx="1614050" cy="529630"/>
          </a:xfrm>
          <a:prstGeom prst="roundRect">
            <a:avLst/>
          </a:prstGeom>
          <a:solidFill>
            <a:srgbClr val="DDF4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20830" y="4611489"/>
            <a:ext cx="1084434" cy="75605"/>
          </a:xfrm>
          <a:prstGeom prst="roundRect">
            <a:avLst/>
          </a:prstGeom>
          <a:solidFill>
            <a:srgbClr val="0F8FA3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043" y="2928838"/>
            <a:ext cx="226908" cy="226913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787088" y="3716139"/>
            <a:ext cx="819626" cy="302617"/>
          </a:xfrm>
          <a:prstGeom prst="rightArrow">
            <a:avLst/>
          </a:prstGeom>
          <a:solidFill>
            <a:srgbClr val="0F8FA3"/>
          </a:solidFill>
          <a:ln/>
        </p:spPr>
      </p:sp>
      <p:sp>
        <p:nvSpPr>
          <p:cNvPr id="30" name="Shape 27"/>
          <p:cNvSpPr/>
          <p:nvPr/>
        </p:nvSpPr>
        <p:spPr>
          <a:xfrm>
            <a:off x="8858921" y="2127250"/>
            <a:ext cx="2824588" cy="315257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85928" y="2782987"/>
            <a:ext cx="2080664" cy="113407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32" name="Shape 29"/>
          <p:cNvSpPr/>
          <p:nvPr/>
        </p:nvSpPr>
        <p:spPr>
          <a:xfrm>
            <a:off x="9085928" y="3022600"/>
            <a:ext cx="1462745" cy="7560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33" name="Shape 30"/>
          <p:cNvSpPr/>
          <p:nvPr/>
        </p:nvSpPr>
        <p:spPr>
          <a:xfrm>
            <a:off x="9085928" y="3350419"/>
            <a:ext cx="2370674" cy="416123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37233" y="3476526"/>
            <a:ext cx="151305" cy="151309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35" name="Shape 32"/>
          <p:cNvSpPr/>
          <p:nvPr/>
        </p:nvSpPr>
        <p:spPr>
          <a:xfrm>
            <a:off x="9539942" y="3514427"/>
            <a:ext cx="1513147" cy="75605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36" name="Shape 33"/>
          <p:cNvSpPr/>
          <p:nvPr/>
        </p:nvSpPr>
        <p:spPr>
          <a:xfrm>
            <a:off x="9085928" y="3905349"/>
            <a:ext cx="2370674" cy="4161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237233" y="4031456"/>
            <a:ext cx="151305" cy="1513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39942" y="4069259"/>
            <a:ext cx="1223138" cy="75605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39" name="Shape 36"/>
          <p:cNvSpPr/>
          <p:nvPr/>
        </p:nvSpPr>
        <p:spPr>
          <a:xfrm>
            <a:off x="10447771" y="4712395"/>
            <a:ext cx="1008732" cy="277416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40" name="Shape 37"/>
          <p:cNvSpPr/>
          <p:nvPr/>
        </p:nvSpPr>
        <p:spPr>
          <a:xfrm rot="16200000">
            <a:off x="6248641" y="5279827"/>
            <a:ext cx="277409" cy="277416"/>
          </a:xfrm>
          <a:prstGeom prst="rightArrow">
            <a:avLst/>
          </a:prstGeom>
          <a:solidFill>
            <a:srgbClr val="0F8FA3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Uruchomienie pliku HTML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Plik quiz.html otwieramy w przeglądarce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Zapisz sam kod jako zwykły tekst UTF-8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Sprawdź końcówkę .html, nie .html.txt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Otwórz plik i sprawdź przyciski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Po zmianie zapisz plik i odśwież stronę</a:t>
            </a:r>
            <a:endParaRPr lang="pl-PL" sz="202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4: własny quiz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30 minut pracy / 90–120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Użyj promptu P3, pytań i swojego planu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Zapisz quiz.html i uruchom go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Wprowadź jedną własną zmianę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działający prototyp i opisana zmiana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Dla chętnych: losowa kolejność pytań i test tej funkcji.</a:t>
            </a:r>
            <a:endParaRPr lang="pl-PL" sz="157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Weryfikacja: jak sprawdzić wynik?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81620" y="2428280"/>
            <a:ext cx="500208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Porównaj efekt z wymaganiami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81620" y="3205460"/>
            <a:ext cx="500208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Sprawdź fakty w wiarygodnych źródłach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81620" y="3982641"/>
            <a:ext cx="500208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Przetestuj typowe i nietypowe sytuacje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81620" y="4531221"/>
            <a:ext cx="5002087" cy="777180"/>
          </a:xfrm>
          <a:custGeom>
            <a:avLst/>
            <a:gdLst/>
            <a:ahLst/>
            <a:cxnLst/>
            <a:rect l="l" t="t" r="r" b="b"/>
            <a:pathLst>
              <a:path w="5002087" h="777180">
                <a:moveTo>
                  <a:pt x="0" y="0"/>
                </a:moveTo>
                <a:lnTo>
                  <a:pt x="5002087" y="0"/>
                </a:lnTo>
                <a:lnTo>
                  <a:pt x="5002087" y="706060"/>
                </a:lnTo>
                <a:arcTo wR="71118" hR="71120" stAng="0" swAng="5400000"/>
                <a:lnTo>
                  <a:pt x="71118" y="777180"/>
                </a:lnTo>
                <a:arcTo wR="71118" hR="71120" stAng="5400000" swAng="5400000"/>
                <a:lnTo>
                  <a:pt x="0" y="0"/>
                </a:lnTo>
                <a:close/>
              </a:path>
            </a:pathLst>
          </a:custGeom>
          <a:solidFill>
            <a:srgbClr val="DDF4F7"/>
          </a:solidFill>
          <a:ln/>
        </p:spPr>
      </p:sp>
      <p:sp>
        <p:nvSpPr>
          <p:cNvPr id="8" name="Text 6"/>
          <p:cNvSpPr/>
          <p:nvPr/>
        </p:nvSpPr>
        <p:spPr>
          <a:xfrm>
            <a:off x="6910215" y="4759821"/>
            <a:ext cx="477349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Ponowna odpowiedź AI nie wystarcza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81620" y="2970510"/>
            <a:ext cx="5002087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0" name="Shape 8"/>
          <p:cNvSpPr/>
          <p:nvPr/>
        </p:nvSpPr>
        <p:spPr>
          <a:xfrm>
            <a:off x="6681620" y="3747691"/>
            <a:ext cx="5002087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9"/>
          <p:cNvSpPr/>
          <p:nvPr/>
        </p:nvSpPr>
        <p:spPr>
          <a:xfrm>
            <a:off x="6681620" y="4524871"/>
            <a:ext cx="5002087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987" y="1594445"/>
            <a:ext cx="5716444" cy="431919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582" y="1810345"/>
            <a:ext cx="88898" cy="889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80" y="2420144"/>
            <a:ext cx="3201213" cy="152400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80" y="2725043"/>
            <a:ext cx="2299238" cy="1016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80" y="3169642"/>
            <a:ext cx="3480705" cy="558899"/>
          </a:xfrm>
          <a:prstGeom prst="roundRect">
            <a:avLst/>
          </a:prstGeom>
          <a:solidFill>
            <a:srgbClr val="DDF4F7"/>
          </a:solidFill>
          <a:ln w="19050">
            <a:solidFill>
              <a:srgbClr val="0F8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3374" y="3360241"/>
            <a:ext cx="177796" cy="177800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764" y="3411041"/>
            <a:ext cx="2426334" cy="76200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80" y="3931841"/>
            <a:ext cx="3480705" cy="5588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3374" y="4122440"/>
            <a:ext cx="177796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764" y="4173240"/>
            <a:ext cx="2032445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80" y="4694039"/>
            <a:ext cx="3480705" cy="5588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3374" y="4884638"/>
            <a:ext cx="177796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764" y="4935438"/>
            <a:ext cx="2311937" cy="76200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25" name="Shape 23"/>
          <p:cNvSpPr/>
          <p:nvPr/>
        </p:nvSpPr>
        <p:spPr>
          <a:xfrm>
            <a:off x="4687373" y="2991842"/>
            <a:ext cx="292093" cy="228600"/>
          </a:xfrm>
          <a:prstGeom prst="rightArrow">
            <a:avLst/>
          </a:prstGeom>
          <a:solidFill>
            <a:srgbClr val="0F8FA3"/>
          </a:solidFill>
          <a:ln/>
        </p:spPr>
      </p:sp>
      <p:sp>
        <p:nvSpPr>
          <p:cNvPr id="26" name="Shape 24"/>
          <p:cNvSpPr/>
          <p:nvPr/>
        </p:nvSpPr>
        <p:spPr>
          <a:xfrm>
            <a:off x="4687373" y="3754041"/>
            <a:ext cx="292093" cy="228600"/>
          </a:xfrm>
          <a:prstGeom prst="rightArrow">
            <a:avLst/>
          </a:prstGeom>
          <a:solidFill>
            <a:srgbClr val="0F8FA3"/>
          </a:solidFill>
          <a:ln/>
        </p:spPr>
      </p:sp>
      <p:sp>
        <p:nvSpPr>
          <p:cNvPr id="27" name="Shape 25"/>
          <p:cNvSpPr/>
          <p:nvPr/>
        </p:nvSpPr>
        <p:spPr>
          <a:xfrm>
            <a:off x="5119262" y="2915543"/>
            <a:ext cx="381090" cy="381099"/>
          </a:xfrm>
          <a:prstGeom prst="star5">
            <a:avLst/>
          </a:prstGeom>
          <a:solidFill>
            <a:srgbClr val="0F8FA3"/>
          </a:solidFill>
          <a:ln/>
        </p:spPr>
      </p:sp>
      <p:sp>
        <p:nvSpPr>
          <p:cNvPr id="28" name="Shape 26"/>
          <p:cNvSpPr/>
          <p:nvPr/>
        </p:nvSpPr>
        <p:spPr>
          <a:xfrm>
            <a:off x="5119262" y="3677841"/>
            <a:ext cx="381090" cy="381099"/>
          </a:xfrm>
          <a:prstGeom prst="star5">
            <a:avLst/>
          </a:prstGeom>
          <a:solidFill>
            <a:srgbClr val="0F8FA3"/>
          </a:solidFill>
          <a:ln/>
        </p:spPr>
      </p:sp>
      <p:sp>
        <p:nvSpPr>
          <p:cNvPr id="29" name="Shape 27"/>
          <p:cNvSpPr/>
          <p:nvPr/>
        </p:nvSpPr>
        <p:spPr>
          <a:xfrm>
            <a:off x="4915968" y="2712343"/>
            <a:ext cx="838377" cy="1549797"/>
          </a:xfrm>
          <a:prstGeom prst="ellipse">
            <a:avLst/>
          </a:prstGeom>
          <a:noFill/>
          <a:ln w="25400">
            <a:solidFill>
              <a:srgbClr val="22302E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212" y="4725789"/>
            <a:ext cx="228594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Human in the loop: człowiek decyduje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6582" y="4696520"/>
            <a:ext cx="233674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Człowiek ustala cel i zasady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30512" y="4696520"/>
            <a:ext cx="233674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Sprawdza wyniki na ważnych etapach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24442" y="4696520"/>
            <a:ext cx="233674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Może zatrzymać działanie i poprawić błędy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18372" y="4696520"/>
            <a:ext cx="233674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Zatwierdza udostępnienie aplikacji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5568" y="4544120"/>
            <a:ext cx="12700" cy="1264741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9" name="Shape 7"/>
          <p:cNvSpPr/>
          <p:nvPr/>
        </p:nvSpPr>
        <p:spPr>
          <a:xfrm>
            <a:off x="6089498" y="4544120"/>
            <a:ext cx="12700" cy="1264741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0" name="Shape 8"/>
          <p:cNvSpPr/>
          <p:nvPr/>
        </p:nvSpPr>
        <p:spPr>
          <a:xfrm>
            <a:off x="8883428" y="4544120"/>
            <a:ext cx="12700" cy="1264741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9"/>
          <p:cNvSpPr/>
          <p:nvPr/>
        </p:nvSpPr>
        <p:spPr>
          <a:xfrm>
            <a:off x="990476" y="1813620"/>
            <a:ext cx="3098623" cy="220970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1770" y="2385120"/>
            <a:ext cx="2158847" cy="114201"/>
          </a:xfrm>
          <a:prstGeom prst="roundRect">
            <a:avLst/>
          </a:prstGeom>
          <a:solidFill>
            <a:srgbClr val="223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1770" y="2715320"/>
            <a:ext cx="2616035" cy="330101"/>
          </a:xfrm>
          <a:prstGeom prst="roundRect">
            <a:avLst/>
          </a:prstGeom>
          <a:solidFill>
            <a:srgbClr val="DDF4F7"/>
          </a:solidFill>
          <a:ln w="12700">
            <a:solidFill>
              <a:srgbClr val="0F8F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466" y="2816920"/>
            <a:ext cx="126898" cy="126901"/>
          </a:xfrm>
          <a:prstGeom prst="ellipse">
            <a:avLst/>
          </a:prstGeom>
          <a:solidFill>
            <a:srgbClr val="0F8FA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0859" y="2842320"/>
            <a:ext cx="1777856" cy="76101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1770" y="3185220"/>
            <a:ext cx="2616035" cy="3301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0859" y="3312220"/>
            <a:ext cx="1422265" cy="76101"/>
          </a:xfrm>
          <a:prstGeom prst="roundRect">
            <a:avLst/>
          </a:prstGeom>
          <a:solidFill>
            <a:srgbClr val="CDD7D7"/>
          </a:solidFill>
          <a:ln/>
        </p:spPr>
      </p:sp>
      <p:sp>
        <p:nvSpPr>
          <p:cNvPr id="18" name="Shape 16"/>
          <p:cNvSpPr/>
          <p:nvPr/>
        </p:nvSpPr>
        <p:spPr>
          <a:xfrm>
            <a:off x="3035125" y="3693220"/>
            <a:ext cx="812680" cy="177701"/>
          </a:xfrm>
          <a:prstGeom prst="roundRect">
            <a:avLst/>
          </a:prstGeom>
          <a:solidFill>
            <a:srgbClr val="0F8FA3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1291" y="2753420"/>
            <a:ext cx="1003176" cy="317401"/>
          </a:xfrm>
          <a:prstGeom prst="rightArrow">
            <a:avLst/>
          </a:prstGeom>
          <a:solidFill>
            <a:srgbClr val="CDD7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702058" y="1585020"/>
            <a:ext cx="2298543" cy="2565301"/>
          </a:xfrm>
          <a:prstGeom prst="roundRect">
            <a:avLst/>
          </a:prstGeom>
          <a:solidFill>
            <a:srgbClr val="DDF4F7"/>
          </a:solidFill>
          <a:ln w="25400">
            <a:solidFill>
              <a:srgbClr val="0F8FA3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989" y="2099370"/>
            <a:ext cx="228495" cy="228501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398" y="3547170"/>
            <a:ext cx="228495" cy="228501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973" y="3547170"/>
            <a:ext cx="228495" cy="228501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318193" y="2753420"/>
            <a:ext cx="1003176" cy="317401"/>
          </a:xfrm>
          <a:prstGeom prst="rightArrow">
            <a:avLst/>
          </a:prstGeom>
          <a:solidFill>
            <a:srgbClr val="0F8FA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999" y="2594670"/>
            <a:ext cx="228495" cy="2285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5: treść i działanie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5 minut pracy / 130–135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Porównaj jedną odpowiedź z notatką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Wskaż zdanie potwierdzające odpowiedź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Zapisz trzy pomysły na testy bez AI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jedna sprawdzona odpowiedź i trzy testy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Przy każdym teście dopisz, jakiego wyniku oczekujesz.</a:t>
            </a:r>
            <a:endParaRPr lang="pl-PL" sz="157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Opis błędu, który da się odtworzyć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28750"/>
            <a:ext cx="111823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Wynik rośnie po kolejnym kliknięciu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409825"/>
            <a:ext cx="2381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1F2933"/>
                </a:solidFill>
                <a:latin typeface="Noto Sans Bold"/>
              </a:rPr>
              <a:t>KROKI</a:t>
            </a:r>
            <a:endParaRPr lang="pl-PL" sz="1725"/>
          </a:p>
        </p:txBody>
      </p:sp>
      <p:sp>
        <p:nvSpPr>
          <p:cNvPr id="5" name="Text 6"/>
          <p:cNvSpPr txBox="1"/>
          <p:nvPr/>
        </p:nvSpPr>
        <p:spPr>
          <a:xfrm>
            <a:off x="3162300" y="2371725"/>
            <a:ext cx="82867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0">
                <a:solidFill>
                  <a:srgbClr val="1F2933"/>
                </a:solidFill>
                <a:latin typeface="Noto Sans"/>
              </a:rPr>
              <a:t>Otwórz quiz. W pytaniu 1 kliknij HTML trzy razy.</a:t>
            </a:r>
            <a:endParaRPr lang="pl-PL" sz="2250"/>
          </a:p>
        </p:txBody>
      </p:sp>
      <p:sp>
        <p:nvSpPr>
          <p:cNvPr id="6" name="Text 7"/>
          <p:cNvSpPr txBox="1"/>
          <p:nvPr/>
        </p:nvSpPr>
        <p:spPr>
          <a:xfrm>
            <a:off x="504825" y="3714750"/>
            <a:ext cx="2381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1F2933"/>
                </a:solidFill>
                <a:latin typeface="Noto Sans Bold"/>
              </a:rPr>
              <a:t>OCZEKIWANIE</a:t>
            </a:r>
            <a:endParaRPr lang="pl-PL" sz="1725"/>
          </a:p>
        </p:txBody>
      </p:sp>
      <p:sp>
        <p:nvSpPr>
          <p:cNvPr id="7" name="Text 8"/>
          <p:cNvSpPr txBox="1"/>
          <p:nvPr/>
        </p:nvSpPr>
        <p:spPr>
          <a:xfrm>
            <a:off x="3162300" y="3676650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0">
                <a:solidFill>
                  <a:srgbClr val="1F2933"/>
                </a:solidFill>
                <a:latin typeface="Noto Sans"/>
              </a:rPr>
              <a:t>1 punkt za jedno pytanie</a:t>
            </a:r>
            <a:endParaRPr lang="pl-PL" sz="2250"/>
          </a:p>
        </p:txBody>
      </p:sp>
      <p:sp>
        <p:nvSpPr>
          <p:cNvPr id="8" name="Text 9"/>
          <p:cNvSpPr txBox="1"/>
          <p:nvPr/>
        </p:nvSpPr>
        <p:spPr>
          <a:xfrm>
            <a:off x="504825" y="4810125"/>
            <a:ext cx="2381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1F2933"/>
                </a:solidFill>
                <a:latin typeface="Noto Sans Bold"/>
              </a:rPr>
              <a:t>WYNIK</a:t>
            </a:r>
            <a:endParaRPr lang="pl-PL" sz="1725"/>
          </a:p>
        </p:txBody>
      </p:sp>
      <p:sp>
        <p:nvSpPr>
          <p:cNvPr id="9" name="Text 10"/>
          <p:cNvSpPr txBox="1"/>
          <p:nvPr/>
        </p:nvSpPr>
        <p:spPr>
          <a:xfrm>
            <a:off x="3162300" y="4772025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0">
                <a:solidFill>
                  <a:srgbClr val="1F2933"/>
                </a:solidFill>
                <a:latin typeface="Noto Sans"/>
              </a:rPr>
              <a:t>3 punkty po trzech kliknięciach</a:t>
            </a:r>
            <a:endParaRPr lang="pl-PL" sz="2250"/>
          </a:p>
        </p:txBody>
      </p:sp>
      <p:sp>
        <p:nvSpPr>
          <p:cNvPr id="10" name="Text 11"/>
          <p:cNvSpPr txBox="1"/>
          <p:nvPr/>
        </p:nvSpPr>
        <p:spPr>
          <a:xfrm>
            <a:off x="504825" y="6038850"/>
            <a:ext cx="111823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650" b="0">
                <a:solidFill>
                  <a:srgbClr val="52616B"/>
                </a:solidFill>
                <a:latin typeface="Noto Sans"/>
              </a:rPr>
              <a:t>Przykład z przygotowanej wersji treningowej</a:t>
            </a:r>
            <a:endParaRPr lang="pl-PL" sz="16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6: polowanie na bugi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15 minut pracy / 140–155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Wykonaj trzy testy i zapisz wyniki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Poproś AI o dodatkowy pomysł na test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Opisz jeden potwierdzony błąd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trzy wyniki testów i opis usterki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Brak błędu w Twoim quizie? Użyj quiz-do-testow.html.</a:t>
            </a:r>
            <a:endParaRPr lang="pl-PL" sz="157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Od raportu do sprawdzonej poprawki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Zmieniamy jeden konkretny problem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Przekaż AI kod i kroki błędu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Zapisz poprawkę jako nową wersję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Powtórz test błędu i jeden wcześniejszy test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Naprawiony kod też wymaga sprawdzenia</a:t>
            </a:r>
            <a:endParaRPr lang="pl-PL" sz="202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Ćwiczenie 7: naprawa i retest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238250"/>
            <a:ext cx="111823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725" b="1">
                <a:solidFill>
                  <a:srgbClr val="0F8FA3"/>
                </a:solidFill>
                <a:latin typeface="Noto Sans Bold"/>
              </a:rPr>
              <a:t>10 minut pracy / 160–170 min warsztatu</a:t>
            </a:r>
            <a:endParaRPr lang="pl-PL" sz="1725"/>
          </a:p>
        </p:txBody>
      </p:sp>
      <p:sp>
        <p:nvSpPr>
          <p:cNvPr id="4" name="Text 5"/>
          <p:cNvSpPr txBox="1"/>
          <p:nvPr/>
        </p:nvSpPr>
        <p:spPr>
          <a:xfrm>
            <a:off x="504825" y="208597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1. Zgłoś jeden błąd promptem P5</a:t>
            </a:r>
            <a:endParaRPr lang="pl-PL" sz="2325"/>
          </a:p>
        </p:txBody>
      </p:sp>
      <p:sp>
        <p:nvSpPr>
          <p:cNvPr id="5" name="Text 6"/>
          <p:cNvSpPr txBox="1"/>
          <p:nvPr/>
        </p:nvSpPr>
        <p:spPr>
          <a:xfrm>
            <a:off x="504825" y="2952750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2. Zapisz poprawkę jako quiz-v2.html</a:t>
            </a:r>
            <a:endParaRPr lang="pl-PL" sz="2325"/>
          </a:p>
        </p:txBody>
      </p:sp>
      <p:sp>
        <p:nvSpPr>
          <p:cNvPr id="6" name="Text 7"/>
          <p:cNvSpPr txBox="1"/>
          <p:nvPr/>
        </p:nvSpPr>
        <p:spPr>
          <a:xfrm>
            <a:off x="504825" y="3819525"/>
            <a:ext cx="10858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0">
                <a:solidFill>
                  <a:srgbClr val="1F2933"/>
                </a:solidFill>
                <a:latin typeface="Noto Sans"/>
              </a:rPr>
              <a:t>3. Powtórz test błędu i jeden inny test</a:t>
            </a:r>
            <a:endParaRPr lang="pl-PL" sz="2325"/>
          </a:p>
        </p:txBody>
      </p:sp>
      <p:sp>
        <p:nvSpPr>
          <p:cNvPr id="7" name="Text 8"/>
          <p:cNvSpPr txBox="1"/>
          <p:nvPr/>
        </p:nvSpPr>
        <p:spPr>
          <a:xfrm>
            <a:off x="504825" y="5000625"/>
            <a:ext cx="11182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Rezultat: wyniki przed i po zmianie</a:t>
            </a:r>
            <a:endParaRPr lang="pl-PL" sz="2025"/>
          </a:p>
        </p:txBody>
      </p:sp>
      <p:sp>
        <p:nvSpPr>
          <p:cNvPr id="8" name="Text 9"/>
          <p:cNvSpPr txBox="1"/>
          <p:nvPr/>
        </p:nvSpPr>
        <p:spPr>
          <a:xfrm>
            <a:off x="504825" y="6134100"/>
            <a:ext cx="111823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1575" b="0">
                <a:solidFill>
                  <a:srgbClr val="52616B"/>
                </a:solidFill>
                <a:latin typeface="Noto Sans"/>
              </a:rPr>
              <a:t>Jeśli poprawka nie działa, zapisz to i doprecyzuj zgłoszenie.</a:t>
            </a:r>
            <a:endParaRPr lang="pl-PL" sz="1575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158180"/>
            <a:ext cx="5435464" cy="2037060"/>
          </a:xfrm>
          <a:prstGeom prst="rect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" y="1501080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2061" y="1541760"/>
            <a:ext cx="438139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Opisuj zadania konkretnie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48244" y="1158180"/>
            <a:ext cx="5435464" cy="2037060"/>
          </a:xfrm>
          <a:prstGeom prst="rect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736" y="1501080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02317" y="1541760"/>
            <a:ext cx="406389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Sprawdzaj odpowiedzi i działanie aplikacji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07987" y="3500041"/>
            <a:ext cx="5435464" cy="2037159"/>
          </a:xfrm>
          <a:prstGeom prst="rect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79" y="3842941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62061" y="3883620"/>
            <a:ext cx="406389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Chroń dane i kontroluj uprawnienia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248244" y="3500041"/>
            <a:ext cx="5435464" cy="2037159"/>
          </a:xfrm>
          <a:prstGeom prst="rect">
            <a:avLst/>
          </a:prstGeom>
          <a:noFill/>
          <a:ln w="12700">
            <a:solidFill>
              <a:srgbClr val="D5DCE5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736" y="3842941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02317" y="3883620"/>
            <a:ext cx="406389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Podejmuj świadome decyzje o użyciu wyników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507987" y="5842000"/>
            <a:ext cx="1117572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b="1" kern="0" spc="-80" dirty="0">
                <a:solidFill>
                  <a:srgbClr val="0F8FA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 sprawdziłeś sam?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Macintosh PowerPoint</Application>
  <PresentationFormat>Panoramiczny</PresentationFormat>
  <Paragraphs>78</Paragraphs>
  <Slides>24</Slides>
  <Notes>24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Grzegorz Holak</cp:lastModifiedBy>
  <cp:revision>2</cp:revision>
  <dcterms:created xsi:type="dcterms:W3CDTF">2026-09-21T17:29:57Z</dcterms:created>
  <dcterms:modified xsi:type="dcterms:W3CDTF">2026-09-29T17:22:58Z</dcterms:modified>
</cp:coreProperties>
</file>